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conjunta. Apresentar o grupo, agradecer a orientação e deixar claro desde o primeiro minuto que é um estudo exploratório, não validado clinicamente e sem finalidade diagnóstica.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dois minutos. Explicar esteatose como acúmulo de gordura no tecido hepático e a tomografia como método em que densidade e textura do parênquima são observáveis. Registrar que a leitura visual foi discutida com os integrantes médicos. Fechar com a ausência de unidades Hounsfield: sem HU, a avaliação quantitativa usual de atenuação hepática não está disponível, trabalhamos apenas com JPEG em escala de cinza.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a pergunta em voz alta. Ela define o critério de sucesso: justificar novos experimentos, não medir desempenho diagnóstico. Enunciar os três limites de escopo: nenhuma saída tem valor clínico, não há leitura humana de referência no conjunto, e não existe protocolo de uso nem validação externa.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a linha do tempo apontando que cada etapa nasceu de uma dúvida da anterior: o baseline nasceu da auditoria, o Grad-CAM nasceu da análise de erros, a ROI nasceu do Grad-CAM, e a análise de incerteza nasceu da fragilidade das comparações.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diferença entre corte e grupo inferido: 3.557 cortes vêm de 225 grupos. O rótulo foi herdado do nome da pasta, sem laudo, sem critério diagnóstico declarado e sem graduação de esteatose.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define o alcance de tudo o que vem depois. A ausência de DICOM e de unidades Hounsfield é a limitação mais severa do ponto de vista clínico. E o grupo inferido vem do nome do arquivo: se um mesmo exame aparecer sob dois identificadores, a proteção contra vazamento não o detectaria, e isso não é verificável com os dados disponíveis.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Separar as verificações que passaram dos sinais técnicos encontrados. Os três sinais são: tamanho do JPEG maior em Steatosis em todos os splits, número médio de cortes por exame diferente entre classes, e artefato de borda brilhante recorrente compatível com mesa de tomógrafo. Nenhum deles foi quantificado contra a predição do modelo, é uma lacuna aberta.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por que o split por corte vazaria: cada exame tem de 10 a 36 cortes altamente correlacionados, então cortes quase idênticos cairiam em treino e teste e o modelo reconheceria o exame, não a condição. O vazamento foi verificado em três camadas independentes de código. Ressalva: o grupo é inferido do nome do arquivo; se um mesmo exame aparecer sob dois identificadores, a proteção não o detectaria.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classificador trivial acerta 65,7% dos exames por acurácia bruta, por isso avaliamos por balanced accuracy. Duas estatísticas globais de pixel, média e desvio da intensidade, já chegam a 0,7899: a tarefa é parcialmente resolvível por sinal global e não anatômico. Isso é um alerta, não uma vitória.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rápido, no máximo um minuto. O professor já apresentou CNNs em aula. Falar apenas: um filtro pequeno percorre a imagem, cada filtro procura um padrão local, a saída forma mapas de atributos, e o pooling reduz a dimensão da representação. A formalização é F(i,j) igual à soma de I(i+m, j+n) multiplicado por K(m,n), com I imagem, K kernel e F mapa de atributos. Figuras de Trevisan (2021), Data Hackers/Medium; o diagrama de pooling é elaboração própria.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23.585 parâmetros é deliberadamente pequeno: com 157 grupos de treino, uma rede grande sobreajustaria, e a rede pequena facilita a interpretação. A predição por exame é a média aritmética simples das probabilidades dos cortes, com limiar 0,5 aplicado sobre a média, então cada exame vale um voto independentemente de ter 10 ou 36 cortes. A terceira convolução, features.8, é a camada-alvo do Grad-CAM.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o intervalo de confiança em voz alta: 0,8080 com IC 95% de 0,6643 a 0,9375. Com 35 exames, um erro a mais move a métrica de forma perceptível. Contra a regressão logística, a CNN ganha em especificidade (+0,1666) e ROC-AUC (+0,0870) e perde em sensibilidade (−0,1304); a balanced accuracy sobe apenas 0,0181, menos de um exame em 35. Nenhuma diferença é robusta.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Perguntar aos médicos o que distingue visualmente estes quatro exames. O verdadeiro positivo mostrado aqui, 194-img-00032, é o mesmo exame que aparece no Grad-CAM do slide seguinte, para permitir comparação direta. O falso positivo 114-img-00064 é o caso mais preocupante: erro confiante, com todos os 24 cortes concordando e desvio de apenas 0,03. Nenhum destes casos recebeu leitura médica estruturada até agora.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exata: alguns casos apresentam ativação próxima da região hepática, outros apresentam atenção em regiões externas ou pouco plausíveis. Não afirmar que o modelo olha para o fígado. Lembrar que apenas 3 dos 66 mapas foram lidos qualitativamente, que a fração de energia dentro da região hepática não foi quantificada e que não houve sanity check com pesos aleatorizados. Perguntar aos médicos se a sobreposição parece anatomicamente plausível.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caixa é geométrica e fixa, calculada só a partir do tamanho da imagem, por isso não pode criar vazamento correlacionado com a classe. Ela cobre 47,6% da área e inclui costela, coluna e tecido não hepático. O resultado defensável é que restringir a região não degradou o desempenho: os três braços ficam entre 0,808 e 0,850, os intervalos de confiança se sobrepõem e o ranking se inverte entre validação e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 mensagem central: há sinal computacional acima do acaso, mas sua origem ainda não foi determinada. A prioridade dos próximos experimentos não é acurácia, é determinar se o sinal é anatômico ou técnico. Enquanto isso não for respondido, ganhos de métrica não têm significado interpretável.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somente se perguntarem. Pontos sensíveis: o pos_weight foi calculado no nível de corte (1,25 para 1), mas a avaliação é por exame (1,96 para 1), então a correção é mais branda do que a unidade de avaliação exigiria. O limiar 0,5 nunca foi otimizado. A curva de val_loss é volátil, com mínimo na época 11 e picos acima de 0,6 em várias épocas, porque a validação tem apenas 33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conclusão honesta é que o MIL foi implementado e verificado, mas nunca realmente treinado: 1 a 2 passos de otimização efetivos. Prova quantitativa independente: na análise de calibração, praticamente todos os 35 grupos caem no bin de probabilidade entre 0,4 e 0,6. Além disso o limite de 12 cortes por bag descarta cerca de 45% da evidência disponível nos exames Healthy. Não se pode concluir nada sobre MIL como formulação.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Reamostramos exames, nunca cortes: reamostrar cortes produziria intervalos artificialmente estreitos. A especificidade é estimada com apenas 12 exames saudáveis, o que dá um intervalo de amplitude 0,42. Não há bootstrap pareado, ECE não foi calculado e nenhuma recalibração foi implementada; se temperature scaling for implementado, o parâmetro deve ser ajustado na validação.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as duas colunas com o mesmo peso. Detalhes se perguntarem: as dependências não têm versões fixadas, o arquivo de configuração de exemplo está vazio, a configuração local declara parâmetros que o código ignora, e os artefatos do modelo principal foram produzidos por uma versão anterior do código, então reexecutar hoje não reproduz exatamente os números históricos.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03A70">
                  <a:alpha val="100000"/>
                </a:srgbClr>
              </a:gs>
              <a:gs pos="100000">
                <a:srgbClr val="02294D">
                  <a:alpha val="100000"/>
                </a:srgbClr>
              </a:gs>
            </a:gsLst>
            <a:lin ang="4200000" scaled="0"/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666750"/>
            <a:ext cx="991344" cy="4191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23607" y="628650"/>
            <a:ext cx="11849993" cy="495300"/>
          </a:xfrm>
          <a:prstGeom prst="roundRect">
            <a:avLst>
              <a:gd name="adj" fmla="val 50000"/>
            </a:avLst>
          </a:prstGeom>
          <a:ln w="9525">
            <a:solidFill>
              <a:srgbClr val="E76F2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42682" y="723900"/>
            <a:ext cx="117673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4A8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ESTUDO EXPLORATÓRIO | NÃO VALIDADO CLINICAMENTE | NÃO É FERRAMENTA DIAGNÓSTICA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3090267"/>
            <a:ext cx="15304770" cy="1807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6450" b="1" spc="-97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Visão Computacional Aplicada à Tomografia Hepática</a:t>
            </a:r>
            <a:endParaRPr lang="en-US" sz="6450" dirty="0"/>
          </a:p>
        </p:txBody>
      </p:sp>
      <p:sp>
        <p:nvSpPr>
          <p:cNvPr id="7" name="Text 4"/>
          <p:cNvSpPr/>
          <p:nvPr/>
        </p:nvSpPr>
        <p:spPr>
          <a:xfrm>
            <a:off x="914400" y="5145286"/>
            <a:ext cx="16344900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234"/>
              </a:lnSpc>
              <a:buNone/>
            </a:pPr>
            <a:r>
              <a:rPr lang="en-US" sz="2700" dirty="0">
                <a:solidFill>
                  <a:srgbClr val="9FD6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Estudo exploratório para classificação de esteatose hepática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914400" y="5853857"/>
            <a:ext cx="163449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B4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MAQ-020 | Aprendizado de Máquina · Orientador: Prof. Adriano Leal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914400" y="8143875"/>
            <a:ext cx="164592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840105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00A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INTEGRANTES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8896350"/>
            <a:ext cx="484748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Ariel Velardo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854601" y="8896350"/>
            <a:ext cx="48476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Alexandre Suehara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0794950" y="8896350"/>
            <a:ext cx="484748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André de Moricz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914400" y="9401175"/>
            <a:ext cx="484748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Fernando Maciel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5854601" y="9401175"/>
            <a:ext cx="48476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Celso Pochini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0794950" y="9401175"/>
            <a:ext cx="484748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Walkiria Hueb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6" kern="0" dirty="0">
                <a:solidFill>
                  <a:srgbClr val="0057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16 | CONTEXTUALIZAÇÃO CLÍNICA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76350"/>
            <a:ext cx="18105120" cy="65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86"/>
              </a:lnSpc>
              <a:buNone/>
            </a:pPr>
            <a:r>
              <a:rPr lang="en-US" sz="43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Por que esteatose e por que tomografia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14400" y="2447479"/>
            <a:ext cx="5257800" cy="2564011"/>
          </a:xfrm>
          <a:prstGeom prst="roundRect">
            <a:avLst>
              <a:gd name="adj" fmla="val 743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2809429"/>
            <a:ext cx="5029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0057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QUE 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7300" y="3266629"/>
            <a:ext cx="502920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70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Esteatose hepática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57300" y="3849439"/>
            <a:ext cx="47091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5A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Acúmulo de gordura no tecido hepático.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515100" y="2447479"/>
            <a:ext cx="5257800" cy="2564011"/>
          </a:xfrm>
          <a:prstGeom prst="roundRect">
            <a:avLst>
              <a:gd name="adj" fmla="val 743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2809429"/>
            <a:ext cx="5029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0057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 QUE A IMAGEM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0" y="3266629"/>
            <a:ext cx="502920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70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Tomografia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0" y="3849439"/>
            <a:ext cx="47091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5A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Densidade e textura do parênquima são observáveis no corte axial.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115800" y="2447479"/>
            <a:ext cx="5257800" cy="2564011"/>
          </a:xfrm>
          <a:prstGeom prst="roundRect">
            <a:avLst>
              <a:gd name="adj" fmla="val 743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458700" y="2809429"/>
            <a:ext cx="5029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0057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COMO TRABALHAMOS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458700" y="3266629"/>
            <a:ext cx="502920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70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Discussão multidisciplinar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2458700" y="3849439"/>
            <a:ext cx="47091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5A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leitura visual foi discutida em conjunto pelo grupo.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5525839"/>
            <a:ext cx="16459200" cy="1541115"/>
          </a:xfrm>
          <a:prstGeom prst="roundRect">
            <a:avLst>
              <a:gd name="adj" fmla="val 12361"/>
            </a:avLst>
          </a:prstGeom>
          <a:solidFill>
            <a:srgbClr val="FDF3D3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5525839"/>
            <a:ext cx="57150" cy="1541115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8" name="Text 16"/>
          <p:cNvSpPr/>
          <p:nvPr/>
        </p:nvSpPr>
        <p:spPr>
          <a:xfrm>
            <a:off x="1409700" y="5849689"/>
            <a:ext cx="1707832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5E480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 imagens não trazem unidades Hounsfield.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09700" y="6371630"/>
            <a:ext cx="170783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950" dirty="0">
                <a:solidFill>
                  <a:srgbClr val="7A5E0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Trabalhamos apenas com JPEG em escala de cinza.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9324975"/>
            <a:ext cx="16459200" cy="9525"/>
          </a:xfrm>
          <a:prstGeom prst="rect">
            <a:avLst/>
          </a:prstGeom>
          <a:solidFill>
            <a:srgbClr val="DCE5EE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553575"/>
            <a:ext cx="588466" cy="24765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926961" y="9525000"/>
            <a:ext cx="709130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A0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Estudo exploratório | não validado clinicamente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6" kern="0" dirty="0">
                <a:solidFill>
                  <a:srgbClr val="0057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16 | PERGUNTA DE PESQUISA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76350"/>
            <a:ext cx="18105120" cy="65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86"/>
              </a:lnSpc>
              <a:buNone/>
            </a:pPr>
            <a:r>
              <a:rPr lang="en-US" sz="43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pergunta que orienta o trabalho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14400" y="2390329"/>
            <a:ext cx="16459200" cy="2197596"/>
          </a:xfrm>
          <a:prstGeom prst="roundRect">
            <a:avLst>
              <a:gd name="adj" fmla="val 953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390329"/>
            <a:ext cx="76200" cy="2197596"/>
          </a:xfrm>
          <a:prstGeom prst="rect">
            <a:avLst/>
          </a:prstGeom>
          <a:solidFill>
            <a:srgbClr val="00A6D6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2885629"/>
            <a:ext cx="15108555" cy="1245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69"/>
              </a:lnSpc>
              <a:buNone/>
            </a:pPr>
            <a:r>
              <a:rPr lang="en-US" sz="360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“Existe evidência computacional inicial e comportamento visual plausível para justificar novos experimentos?”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5121325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03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QUE O TRABALHO NÃO PRETENDE FAZER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5654725"/>
            <a:ext cx="5308550" cy="1043880"/>
          </a:xfrm>
          <a:prstGeom prst="roundRect">
            <a:avLst>
              <a:gd name="adj" fmla="val 16424"/>
            </a:avLst>
          </a:prstGeom>
          <a:solidFill>
            <a:srgbClr val="FBECE9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5978575"/>
            <a:ext cx="512693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8E2C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Não é diagnóstico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489650" y="5654725"/>
            <a:ext cx="5308550" cy="1043880"/>
          </a:xfrm>
          <a:prstGeom prst="roundRect">
            <a:avLst>
              <a:gd name="adj" fmla="val 16424"/>
            </a:avLst>
          </a:prstGeom>
          <a:solidFill>
            <a:srgbClr val="FBECE9"/>
          </a:solidFill>
          <a:ln/>
        </p:spPr>
      </p:sp>
      <p:sp>
        <p:nvSpPr>
          <p:cNvPr id="11" name="Text 9"/>
          <p:cNvSpPr/>
          <p:nvPr/>
        </p:nvSpPr>
        <p:spPr>
          <a:xfrm>
            <a:off x="6813500" y="5978575"/>
            <a:ext cx="512693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8E2C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Não compara com radiologista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064901" y="5654725"/>
            <a:ext cx="5308550" cy="1043880"/>
          </a:xfrm>
          <a:prstGeom prst="roundRect">
            <a:avLst>
              <a:gd name="adj" fmla="val 16424"/>
            </a:avLst>
          </a:prstGeom>
          <a:solidFill>
            <a:srgbClr val="FBECE9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8751" y="5978575"/>
            <a:ext cx="512693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8E2C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Não é aplicação hospitalar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9324975"/>
            <a:ext cx="16459200" cy="9525"/>
          </a:xfrm>
          <a:prstGeom prst="rect">
            <a:avLst/>
          </a:prstGeom>
          <a:solidFill>
            <a:srgbClr val="DCE5EE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553575"/>
            <a:ext cx="588466" cy="2476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926961" y="9525000"/>
            <a:ext cx="709130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A0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Estudo exploratório | não validado clinicamente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6" kern="0" dirty="0">
                <a:solidFill>
                  <a:srgbClr val="0057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16 | EVOLUÇÃO DO TRABALHO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76350"/>
            <a:ext cx="18105120" cy="65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86"/>
              </a:lnSpc>
              <a:buNone/>
            </a:pPr>
            <a:r>
              <a:rPr lang="en-US" sz="43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Como a investigação avançou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14400" y="2466529"/>
            <a:ext cx="2952750" cy="1276350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466529"/>
            <a:ext cx="2952750" cy="47625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6" name="Text 4"/>
          <p:cNvSpPr/>
          <p:nvPr/>
        </p:nvSpPr>
        <p:spPr>
          <a:xfrm>
            <a:off x="976312" y="2761804"/>
            <a:ext cx="28289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4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76312" y="3161854"/>
            <a:ext cx="28289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Dados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000500" y="2466529"/>
            <a:ext cx="233362" cy="1314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9AA6B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4291013" y="2466529"/>
            <a:ext cx="2952750" cy="1276350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291013" y="2466529"/>
            <a:ext cx="2952750" cy="47625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1" name="Text 9"/>
          <p:cNvSpPr/>
          <p:nvPr/>
        </p:nvSpPr>
        <p:spPr>
          <a:xfrm>
            <a:off x="4352925" y="2761804"/>
            <a:ext cx="28289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4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52925" y="3161854"/>
            <a:ext cx="28289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Auditoria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77113" y="2466529"/>
            <a:ext cx="233362" cy="1314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9AA6B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7667625" y="2466529"/>
            <a:ext cx="2952750" cy="1276350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667625" y="2466529"/>
            <a:ext cx="2952750" cy="47625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6" name="Text 14"/>
          <p:cNvSpPr/>
          <p:nvPr/>
        </p:nvSpPr>
        <p:spPr>
          <a:xfrm>
            <a:off x="7729538" y="2761804"/>
            <a:ext cx="28289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4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29538" y="3161854"/>
            <a:ext cx="28289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Split por grupo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753725" y="2466529"/>
            <a:ext cx="233362" cy="1314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9AA6B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1044238" y="2466529"/>
            <a:ext cx="2952750" cy="1276350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44238" y="2466529"/>
            <a:ext cx="2952750" cy="47625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6150" y="2761804"/>
            <a:ext cx="28289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4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6150" y="3161854"/>
            <a:ext cx="28289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Baseline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4130338" y="2466529"/>
            <a:ext cx="233362" cy="1314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9AA6B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4420850" y="2466529"/>
            <a:ext cx="2952750" cy="1276350"/>
          </a:xfrm>
          <a:prstGeom prst="roundRect">
            <a:avLst>
              <a:gd name="adj" fmla="val 11940"/>
            </a:avLst>
          </a:prstGeom>
          <a:solidFill>
            <a:srgbClr val="003A70"/>
          </a:solidFill>
          <a:ln/>
        </p:spPr>
      </p:sp>
      <p:sp>
        <p:nvSpPr>
          <p:cNvPr id="25" name="Shape 23"/>
          <p:cNvSpPr/>
          <p:nvPr/>
        </p:nvSpPr>
        <p:spPr>
          <a:xfrm>
            <a:off x="14420850" y="2466529"/>
            <a:ext cx="2952750" cy="47625"/>
          </a:xfrm>
          <a:prstGeom prst="rect">
            <a:avLst/>
          </a:prstGeom>
          <a:solidFill>
            <a:srgbClr val="00A6D6"/>
          </a:solidFill>
          <a:ln/>
        </p:spPr>
      </p:sp>
      <p:sp>
        <p:nvSpPr>
          <p:cNvPr id="26" name="Text 24"/>
          <p:cNvSpPr/>
          <p:nvPr/>
        </p:nvSpPr>
        <p:spPr>
          <a:xfrm>
            <a:off x="14482763" y="2761804"/>
            <a:ext cx="28289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FB4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482763" y="3161854"/>
            <a:ext cx="28289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CNN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14400" y="4085779"/>
            <a:ext cx="2952750" cy="1276350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914400" y="4085779"/>
            <a:ext cx="2952750" cy="47625"/>
          </a:xfrm>
          <a:prstGeom prst="rect">
            <a:avLst/>
          </a:prstGeom>
          <a:solidFill>
            <a:srgbClr val="00A6D6"/>
          </a:solidFill>
          <a:ln/>
        </p:spPr>
      </p:sp>
      <p:sp>
        <p:nvSpPr>
          <p:cNvPr id="30" name="Text 28"/>
          <p:cNvSpPr/>
          <p:nvPr/>
        </p:nvSpPr>
        <p:spPr>
          <a:xfrm>
            <a:off x="976312" y="4381054"/>
            <a:ext cx="28289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4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76312" y="4781104"/>
            <a:ext cx="28289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Erros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4000500" y="4085779"/>
            <a:ext cx="233362" cy="1314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9AA6B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4291013" y="4085779"/>
            <a:ext cx="2952750" cy="1276350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291013" y="4085779"/>
            <a:ext cx="2952750" cy="47625"/>
          </a:xfrm>
          <a:prstGeom prst="rect">
            <a:avLst/>
          </a:prstGeom>
          <a:solidFill>
            <a:srgbClr val="00A6D6"/>
          </a:solidFill>
          <a:ln/>
        </p:spPr>
      </p:sp>
      <p:sp>
        <p:nvSpPr>
          <p:cNvPr id="35" name="Text 33"/>
          <p:cNvSpPr/>
          <p:nvPr/>
        </p:nvSpPr>
        <p:spPr>
          <a:xfrm>
            <a:off x="4352925" y="4381054"/>
            <a:ext cx="28289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4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352925" y="4781104"/>
            <a:ext cx="28289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Grad-CAM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7377113" y="4085779"/>
            <a:ext cx="233362" cy="1314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9AA6B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7667625" y="4085779"/>
            <a:ext cx="2952750" cy="1276350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7667625" y="4085779"/>
            <a:ext cx="2952750" cy="47625"/>
          </a:xfrm>
          <a:prstGeom prst="rect">
            <a:avLst/>
          </a:prstGeom>
          <a:solidFill>
            <a:srgbClr val="00A6D6"/>
          </a:solidFill>
          <a:ln/>
        </p:spPr>
      </p:sp>
      <p:sp>
        <p:nvSpPr>
          <p:cNvPr id="40" name="Text 38"/>
          <p:cNvSpPr/>
          <p:nvPr/>
        </p:nvSpPr>
        <p:spPr>
          <a:xfrm>
            <a:off x="7729538" y="4381054"/>
            <a:ext cx="28289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4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729538" y="4781104"/>
            <a:ext cx="28289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ROI hepática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10753725" y="4085779"/>
            <a:ext cx="233362" cy="1314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9AA6B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250" dirty="0"/>
          </a:p>
        </p:txBody>
      </p:sp>
      <p:sp>
        <p:nvSpPr>
          <p:cNvPr id="43" name="Shape 41"/>
          <p:cNvSpPr/>
          <p:nvPr/>
        </p:nvSpPr>
        <p:spPr>
          <a:xfrm>
            <a:off x="11044238" y="4085779"/>
            <a:ext cx="2952750" cy="1276350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1044238" y="4085779"/>
            <a:ext cx="2952750" cy="47625"/>
          </a:xfrm>
          <a:prstGeom prst="rect">
            <a:avLst/>
          </a:prstGeom>
          <a:solidFill>
            <a:srgbClr val="00A6D6"/>
          </a:solidFill>
          <a:ln/>
        </p:spPr>
      </p:sp>
      <p:sp>
        <p:nvSpPr>
          <p:cNvPr id="45" name="Text 43"/>
          <p:cNvSpPr/>
          <p:nvPr/>
        </p:nvSpPr>
        <p:spPr>
          <a:xfrm>
            <a:off x="11106150" y="4381054"/>
            <a:ext cx="28289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4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1106150" y="4781104"/>
            <a:ext cx="28289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MIL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14130338" y="4085779"/>
            <a:ext cx="233362" cy="1314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9AA6B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250" dirty="0"/>
          </a:p>
        </p:txBody>
      </p:sp>
      <p:sp>
        <p:nvSpPr>
          <p:cNvPr id="48" name="Shape 46"/>
          <p:cNvSpPr/>
          <p:nvPr/>
        </p:nvSpPr>
        <p:spPr>
          <a:xfrm>
            <a:off x="14420850" y="4085779"/>
            <a:ext cx="2952750" cy="1276350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14420850" y="4085779"/>
            <a:ext cx="2952750" cy="47625"/>
          </a:xfrm>
          <a:prstGeom prst="rect">
            <a:avLst/>
          </a:prstGeom>
          <a:solidFill>
            <a:srgbClr val="00A6D6"/>
          </a:solidFill>
          <a:ln/>
        </p:spPr>
      </p:sp>
      <p:sp>
        <p:nvSpPr>
          <p:cNvPr id="50" name="Text 48"/>
          <p:cNvSpPr/>
          <p:nvPr/>
        </p:nvSpPr>
        <p:spPr>
          <a:xfrm>
            <a:off x="14482763" y="4381054"/>
            <a:ext cx="28289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4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4482763" y="4781104"/>
            <a:ext cx="28289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Incerteza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4400" y="9376470"/>
            <a:ext cx="157162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98"/>
              </a:lnSpc>
              <a:buNone/>
            </a:pPr>
            <a:r>
              <a:rPr lang="en-US" sz="25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Cada resultado originou uma nova pergunta e um novo experimento.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6" kern="0" dirty="0">
                <a:solidFill>
                  <a:srgbClr val="0057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16 | DATASET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81100"/>
            <a:ext cx="1810512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41"/>
              </a:lnSpc>
              <a:buNone/>
            </a:pPr>
            <a:r>
              <a:rPr lang="en-US" sz="40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 conjunto de imagens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14400" y="2042815"/>
            <a:ext cx="3139380" cy="140970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252365"/>
            <a:ext cx="295039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3.557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143000" y="2938165"/>
            <a:ext cx="295039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cortes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44280" y="2042815"/>
            <a:ext cx="3139380" cy="140970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472880" y="2252365"/>
            <a:ext cx="295039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225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4472880" y="2938165"/>
            <a:ext cx="295039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grupos inferidos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74161" y="2042815"/>
            <a:ext cx="3139529" cy="140970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802761" y="2252365"/>
            <a:ext cx="295056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1.611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7802761" y="2938165"/>
            <a:ext cx="295056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Healthy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904190" y="2042815"/>
            <a:ext cx="3139380" cy="140970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132790" y="2252365"/>
            <a:ext cx="295039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00A6D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1.946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11132790" y="2938165"/>
            <a:ext cx="295039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Hepatic Steatosis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4234071" y="2042815"/>
            <a:ext cx="3139529" cy="140970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4462671" y="2252365"/>
            <a:ext cx="295056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JPEG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4462671" y="2795290"/>
            <a:ext cx="295056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256 × 256 · cinza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3776365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HEALTHY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4400" y="4176415"/>
            <a:ext cx="16459200" cy="2388245"/>
          </a:xfrm>
          <a:prstGeom prst="roundRect">
            <a:avLst>
              <a:gd name="adj" fmla="val 4786"/>
            </a:avLst>
          </a:prstGeom>
          <a:solidFill>
            <a:srgbClr val="000000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176415"/>
            <a:ext cx="16459200" cy="238824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14400" y="679326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00A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HEPATIC STEATOSIS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14400" y="7193310"/>
            <a:ext cx="16459200" cy="2388245"/>
          </a:xfrm>
          <a:prstGeom prst="roundRect">
            <a:avLst>
              <a:gd name="adj" fmla="val 4786"/>
            </a:avLst>
          </a:prstGeom>
          <a:solidFill>
            <a:srgbClr val="000000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193310"/>
            <a:ext cx="16459200" cy="2388245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914400" y="9581555"/>
            <a:ext cx="16459200" cy="9525"/>
          </a:xfrm>
          <a:prstGeom prst="rect">
            <a:avLst/>
          </a:prstGeom>
          <a:solidFill>
            <a:srgbClr val="DCE5EE"/>
          </a:solidFill>
          <a:ln/>
        </p:spPr>
      </p:sp>
      <p:sp>
        <p:nvSpPr>
          <p:cNvPr id="26" name="Text 22"/>
          <p:cNvSpPr/>
          <p:nvPr/>
        </p:nvSpPr>
        <p:spPr>
          <a:xfrm>
            <a:off x="914400" y="9762530"/>
            <a:ext cx="717266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Rótulo herdado do nome da pasta. Sem laudo e sem graduação.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10926961" y="9762530"/>
            <a:ext cx="709130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A0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Estudo exploratório | não validado clinicamente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6" kern="0" dirty="0">
                <a:solidFill>
                  <a:srgbClr val="0057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16 | LIMITAÇÕES DOS DADOS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76350"/>
            <a:ext cx="18105120" cy="65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86"/>
              </a:lnSpc>
              <a:buNone/>
            </a:pPr>
            <a:r>
              <a:rPr lang="en-US" sz="43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 que temos e o que não temos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14400" y="2390329"/>
            <a:ext cx="8058150" cy="3312319"/>
          </a:xfrm>
          <a:prstGeom prst="roundRect">
            <a:avLst>
              <a:gd name="adj" fmla="val 575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390329"/>
            <a:ext cx="8058150" cy="5715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809429"/>
            <a:ext cx="80257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1F8A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TEMOS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95400" y="3580954"/>
            <a:ext cx="95250" cy="9525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8" name="Text 6"/>
          <p:cNvSpPr/>
          <p:nvPr/>
        </p:nvSpPr>
        <p:spPr>
          <a:xfrm>
            <a:off x="1543050" y="3380929"/>
            <a:ext cx="356808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842"/>
              </a:lnSpc>
              <a:buNone/>
            </a:pPr>
            <a:r>
              <a:rPr lang="en-US" sz="2175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Imagens JPEG, 256 × 256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1295400" y="4177159"/>
            <a:ext cx="95250" cy="9525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10" name="Text 8"/>
          <p:cNvSpPr/>
          <p:nvPr/>
        </p:nvSpPr>
        <p:spPr>
          <a:xfrm>
            <a:off x="1543050" y="3977134"/>
            <a:ext cx="1765131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842"/>
              </a:lnSpc>
              <a:buNone/>
            </a:pPr>
            <a:r>
              <a:rPr lang="en-US" sz="2175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Duas classes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1295400" y="4773364"/>
            <a:ext cx="95250" cy="9525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12" name="Text 10"/>
          <p:cNvSpPr/>
          <p:nvPr/>
        </p:nvSpPr>
        <p:spPr>
          <a:xfrm>
            <a:off x="1543050" y="4573339"/>
            <a:ext cx="4188872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842"/>
              </a:lnSpc>
              <a:buNone/>
            </a:pPr>
            <a:r>
              <a:rPr lang="en-US" sz="2175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Organização por grupo inferido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9315450" y="2390329"/>
            <a:ext cx="8058150" cy="3312319"/>
          </a:xfrm>
          <a:prstGeom prst="roundRect">
            <a:avLst>
              <a:gd name="adj" fmla="val 5751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2390329"/>
            <a:ext cx="8058150" cy="57150"/>
          </a:xfrm>
          <a:prstGeom prst="rect">
            <a:avLst/>
          </a:prstGeom>
          <a:solidFill>
            <a:srgbClr val="B03A1E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2809429"/>
            <a:ext cx="80257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03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NÃO TEMOS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96450" y="3552379"/>
            <a:ext cx="95250" cy="9525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9925050" y="3380929"/>
            <a:ext cx="898922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DICOM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3477875" y="3552379"/>
            <a:ext cx="95250" cy="9525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13706475" y="3380929"/>
            <a:ext cx="2635255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Unidades Hounsfield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9696450" y="4089946"/>
            <a:ext cx="95250" cy="9525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9925050" y="3918496"/>
            <a:ext cx="1733863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Voxel spacing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13477875" y="4089946"/>
            <a:ext cx="95250" cy="9525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13706475" y="3918496"/>
            <a:ext cx="2880167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Protocolo de aquisição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9696450" y="4627513"/>
            <a:ext cx="95250" cy="9525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9925050" y="4456063"/>
            <a:ext cx="2435855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Metadados clínicos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13477875" y="4627513"/>
            <a:ext cx="95250" cy="9525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13706475" y="4456063"/>
            <a:ext cx="2866579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Segmentação validada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9696450" y="5165080"/>
            <a:ext cx="95250" cy="9525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9925050" y="4993630"/>
            <a:ext cx="3076292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Graduação de esteatose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914400" y="6159847"/>
            <a:ext cx="16459200" cy="1074390"/>
          </a:xfrm>
          <a:prstGeom prst="roundRect">
            <a:avLst>
              <a:gd name="adj" fmla="val 17731"/>
            </a:avLst>
          </a:prstGeom>
          <a:solidFill>
            <a:srgbClr val="FDF3D3"/>
          </a:solidFill>
          <a:ln/>
        </p:spPr>
      </p:sp>
      <p:sp>
        <p:nvSpPr>
          <p:cNvPr id="31" name="Shape 29"/>
          <p:cNvSpPr/>
          <p:nvPr/>
        </p:nvSpPr>
        <p:spPr>
          <a:xfrm>
            <a:off x="914400" y="6159847"/>
            <a:ext cx="57150" cy="1074390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32" name="Text 30"/>
          <p:cNvSpPr/>
          <p:nvPr/>
        </p:nvSpPr>
        <p:spPr>
          <a:xfrm>
            <a:off x="1409700" y="6483697"/>
            <a:ext cx="1707832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5E480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 grupo inferido vem do nome do arquivo. Não é um identificador de paciente validado.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914400" y="9344025"/>
            <a:ext cx="16459200" cy="9525"/>
          </a:xfrm>
          <a:prstGeom prst="rect">
            <a:avLst/>
          </a:prstGeom>
          <a:solidFill>
            <a:srgbClr val="DCE5EE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553575"/>
            <a:ext cx="588466" cy="24765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0926961" y="9525000"/>
            <a:ext cx="709130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A0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Estudo exploratório | não validado clinicamente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6" kern="0" dirty="0">
                <a:solidFill>
                  <a:srgbClr val="0057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16 | AUDITORIA DOS DADOS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76350"/>
            <a:ext cx="18105120" cy="65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86"/>
              </a:lnSpc>
              <a:buNone/>
            </a:pPr>
            <a:r>
              <a:rPr lang="en-US" sz="43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Auditoria e risco de atalhos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14400" y="2352229"/>
            <a:ext cx="5334000" cy="1419225"/>
          </a:xfrm>
          <a:prstGeom prst="roundRect">
            <a:avLst>
              <a:gd name="adj" fmla="val 12081"/>
            </a:avLst>
          </a:prstGeom>
          <a:solidFill>
            <a:srgbClr val="E6F4EC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2637979"/>
            <a:ext cx="51968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1F8A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VERIFICAÇÃO OK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19200" y="3076129"/>
            <a:ext cx="519684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62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 imagens ilegíveis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77000" y="2352229"/>
            <a:ext cx="5334000" cy="1419225"/>
          </a:xfrm>
          <a:prstGeom prst="roundRect">
            <a:avLst>
              <a:gd name="adj" fmla="val 12081"/>
            </a:avLst>
          </a:prstGeom>
          <a:solidFill>
            <a:srgbClr val="E6F4EC"/>
          </a:solidFill>
          <a:ln/>
        </p:spPr>
      </p:sp>
      <p:sp>
        <p:nvSpPr>
          <p:cNvPr id="8" name="Text 6"/>
          <p:cNvSpPr/>
          <p:nvPr/>
        </p:nvSpPr>
        <p:spPr>
          <a:xfrm>
            <a:off x="6781800" y="2637979"/>
            <a:ext cx="51968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1F8A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VERIFICAÇÃO OK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81800" y="3076129"/>
            <a:ext cx="519684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62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 duplicatas exatas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039600" y="2352229"/>
            <a:ext cx="5334000" cy="1419225"/>
          </a:xfrm>
          <a:prstGeom prst="roundRect">
            <a:avLst>
              <a:gd name="adj" fmla="val 12081"/>
            </a:avLst>
          </a:prstGeom>
          <a:solidFill>
            <a:srgbClr val="E6F4EC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0" y="2637979"/>
            <a:ext cx="51968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1F8A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VERIFICAÇÃO OK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0" y="3076129"/>
            <a:ext cx="519684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62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Dimensões consistentes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4000054"/>
            <a:ext cx="5334000" cy="2141041"/>
          </a:xfrm>
          <a:prstGeom prst="roundRect">
            <a:avLst>
              <a:gd name="adj" fmla="val 8008"/>
            </a:avLst>
          </a:prstGeom>
          <a:solidFill>
            <a:srgbClr val="FBECE9"/>
          </a:solidFill>
          <a:ln/>
        </p:spPr>
      </p:sp>
      <p:sp>
        <p:nvSpPr>
          <p:cNvPr id="14" name="Text 12"/>
          <p:cNvSpPr/>
          <p:nvPr/>
        </p:nvSpPr>
        <p:spPr>
          <a:xfrm>
            <a:off x="1219200" y="4285804"/>
            <a:ext cx="51968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B03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SINAL TÉCNICO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19200" y="4723954"/>
            <a:ext cx="519684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8E2C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Tamanho do JPEG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19200" y="5184874"/>
            <a:ext cx="51968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40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41.794 vs. 38.595 bytes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77000" y="4000054"/>
            <a:ext cx="5334000" cy="2141041"/>
          </a:xfrm>
          <a:prstGeom prst="roundRect">
            <a:avLst>
              <a:gd name="adj" fmla="val 8008"/>
            </a:avLst>
          </a:prstGeom>
          <a:solidFill>
            <a:srgbClr val="FBECE9"/>
          </a:solidFill>
          <a:ln/>
        </p:spPr>
      </p:sp>
      <p:sp>
        <p:nvSpPr>
          <p:cNvPr id="18" name="Text 16"/>
          <p:cNvSpPr/>
          <p:nvPr/>
        </p:nvSpPr>
        <p:spPr>
          <a:xfrm>
            <a:off x="6781800" y="4285804"/>
            <a:ext cx="51968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B03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SINAL TÉCNICO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81800" y="4723954"/>
            <a:ext cx="4866132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8E2C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Cortes por exame diferem entre classes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781800" y="5550545"/>
            <a:ext cx="51968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40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13,1 vs. 21,2 cortes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039600" y="4000054"/>
            <a:ext cx="5334000" cy="2141041"/>
          </a:xfrm>
          <a:prstGeom prst="roundRect">
            <a:avLst>
              <a:gd name="adj" fmla="val 8008"/>
            </a:avLst>
          </a:prstGeom>
          <a:solidFill>
            <a:srgbClr val="FBECE9"/>
          </a:solidFill>
          <a:ln/>
        </p:spPr>
      </p:sp>
      <p:sp>
        <p:nvSpPr>
          <p:cNvPr id="22" name="Text 20"/>
          <p:cNvSpPr/>
          <p:nvPr/>
        </p:nvSpPr>
        <p:spPr>
          <a:xfrm>
            <a:off x="12344400" y="4285804"/>
            <a:ext cx="51968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B03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SINAL TÉCNICO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0" y="4723954"/>
            <a:ext cx="519684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8E2C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Artefato de borda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2344400" y="5184874"/>
            <a:ext cx="51968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40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faixa brilhante recorrente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4400" y="6598295"/>
            <a:ext cx="16459200" cy="1598116"/>
          </a:xfrm>
          <a:prstGeom prst="roundRect">
            <a:avLst>
              <a:gd name="adj" fmla="val 11920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6598295"/>
            <a:ext cx="76200" cy="1598116"/>
          </a:xfrm>
          <a:prstGeom prst="rect">
            <a:avLst/>
          </a:prstGeom>
          <a:solidFill>
            <a:srgbClr val="00A6D6"/>
          </a:solidFill>
          <a:ln/>
        </p:spPr>
      </p:sp>
      <p:sp>
        <p:nvSpPr>
          <p:cNvPr id="27" name="Text 25"/>
          <p:cNvSpPr/>
          <p:nvPr/>
        </p:nvSpPr>
        <p:spPr>
          <a:xfrm>
            <a:off x="1466850" y="6960245"/>
            <a:ext cx="15304770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744"/>
              </a:lnSpc>
              <a:buNone/>
            </a:pPr>
            <a:r>
              <a:rPr lang="en-US" sz="25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 dataset passou nas verificações básicas, mas contém sinais técnicos que podem funcionar como atalhos.</a:t>
            </a:r>
            <a:endParaRPr lang="en-US" sz="2550" dirty="0"/>
          </a:p>
        </p:txBody>
      </p:sp>
      <p:sp>
        <p:nvSpPr>
          <p:cNvPr id="28" name="Shape 26"/>
          <p:cNvSpPr/>
          <p:nvPr/>
        </p:nvSpPr>
        <p:spPr>
          <a:xfrm>
            <a:off x="914400" y="9344025"/>
            <a:ext cx="16459200" cy="9525"/>
          </a:xfrm>
          <a:prstGeom prst="rect">
            <a:avLst/>
          </a:prstGeom>
          <a:solidFill>
            <a:srgbClr val="DCE5EE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553575"/>
            <a:ext cx="588466" cy="24765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0926961" y="9525000"/>
            <a:ext cx="709130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A0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Estudo exploratório | não validado clinicamente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6" kern="0" dirty="0">
                <a:solidFill>
                  <a:srgbClr val="0057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16 | SPLIT POR GRUPO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76350"/>
            <a:ext cx="18105120" cy="65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86"/>
              </a:lnSpc>
              <a:buNone/>
            </a:pPr>
            <a:r>
              <a:rPr lang="en-US" sz="43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divisão é feita por exame, nunca por corte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14400" y="2428429"/>
            <a:ext cx="5308550" cy="2867025"/>
          </a:xfrm>
          <a:prstGeom prst="roundRect">
            <a:avLst>
              <a:gd name="adj" fmla="val 6645"/>
            </a:avLst>
          </a:prstGeom>
          <a:solidFill>
            <a:srgbClr val="003A70"/>
          </a:solidFill>
          <a:ln/>
        </p:spPr>
      </p:sp>
      <p:sp>
        <p:nvSpPr>
          <p:cNvPr id="5" name="Text 3"/>
          <p:cNvSpPr/>
          <p:nvPr/>
        </p:nvSpPr>
        <p:spPr>
          <a:xfrm>
            <a:off x="1276350" y="2771329"/>
            <a:ext cx="50431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FB4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TREINO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76350" y="3228529"/>
            <a:ext cx="504311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7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157</a:t>
            </a:r>
            <a:endParaRPr lang="en-US" sz="5100" dirty="0"/>
          </a:p>
        </p:txBody>
      </p:sp>
      <p:sp>
        <p:nvSpPr>
          <p:cNvPr id="7" name="Text 5"/>
          <p:cNvSpPr/>
          <p:nvPr/>
        </p:nvSpPr>
        <p:spPr>
          <a:xfrm>
            <a:off x="1276350" y="3933379"/>
            <a:ext cx="50431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FD6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grupos inferidos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276350" y="4447729"/>
            <a:ext cx="4584650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276350" y="4628704"/>
            <a:ext cx="47221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2.459 cortes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489650" y="2428429"/>
            <a:ext cx="5308550" cy="2867025"/>
          </a:xfrm>
          <a:prstGeom prst="roundRect">
            <a:avLst>
              <a:gd name="adj" fmla="val 6645"/>
            </a:avLst>
          </a:prstGeom>
          <a:solidFill>
            <a:srgbClr val="0F5C8C"/>
          </a:solidFill>
          <a:ln/>
        </p:spPr>
      </p:sp>
      <p:sp>
        <p:nvSpPr>
          <p:cNvPr id="11" name="Text 9"/>
          <p:cNvSpPr/>
          <p:nvPr/>
        </p:nvSpPr>
        <p:spPr>
          <a:xfrm>
            <a:off x="6851600" y="2771329"/>
            <a:ext cx="50431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A9DC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VALIDAÇÃO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1600" y="3228529"/>
            <a:ext cx="504311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7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33</a:t>
            </a:r>
            <a:endParaRPr lang="en-US" sz="5100" dirty="0"/>
          </a:p>
        </p:txBody>
      </p:sp>
      <p:sp>
        <p:nvSpPr>
          <p:cNvPr id="13" name="Text 11"/>
          <p:cNvSpPr/>
          <p:nvPr/>
        </p:nvSpPr>
        <p:spPr>
          <a:xfrm>
            <a:off x="6851600" y="3933379"/>
            <a:ext cx="50431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6E9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grupos inferidos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6851600" y="4447729"/>
            <a:ext cx="4584650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851600" y="4628704"/>
            <a:ext cx="47221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538 cortes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2064901" y="2428429"/>
            <a:ext cx="5308550" cy="2867025"/>
          </a:xfrm>
          <a:prstGeom prst="roundRect">
            <a:avLst>
              <a:gd name="adj" fmla="val 6645"/>
            </a:avLst>
          </a:prstGeom>
          <a:solidFill>
            <a:srgbClr val="00A6D6"/>
          </a:solidFill>
          <a:ln/>
        </p:spPr>
      </p:sp>
      <p:sp>
        <p:nvSpPr>
          <p:cNvPr id="17" name="Text 15"/>
          <p:cNvSpPr/>
          <p:nvPr/>
        </p:nvSpPr>
        <p:spPr>
          <a:xfrm>
            <a:off x="12426851" y="2771329"/>
            <a:ext cx="50431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E4F6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426851" y="3228529"/>
            <a:ext cx="504311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7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35</a:t>
            </a:r>
            <a:endParaRPr lang="en-US" sz="5100" dirty="0"/>
          </a:p>
        </p:txBody>
      </p:sp>
      <p:sp>
        <p:nvSpPr>
          <p:cNvPr id="19" name="Text 17"/>
          <p:cNvSpPr/>
          <p:nvPr/>
        </p:nvSpPr>
        <p:spPr>
          <a:xfrm>
            <a:off x="12426851" y="3933379"/>
            <a:ext cx="50431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AF8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grupos inferidos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2426851" y="4447729"/>
            <a:ext cx="4584650" cy="9525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2426851" y="4628704"/>
            <a:ext cx="47221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560 cortes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14400" y="5752654"/>
            <a:ext cx="1535460" cy="590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162050" y="5886004"/>
            <a:ext cx="11163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seed 42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2602260" y="5752654"/>
            <a:ext cx="4358729" cy="590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2849910" y="5886004"/>
            <a:ext cx="399419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estratificado 70 / 15 / 15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7113389" y="5752654"/>
            <a:ext cx="3021360" cy="590550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/>
        </p:spPr>
      </p:sp>
      <p:sp>
        <p:nvSpPr>
          <p:cNvPr id="27" name="Text 25"/>
          <p:cNvSpPr/>
          <p:nvPr/>
        </p:nvSpPr>
        <p:spPr>
          <a:xfrm>
            <a:off x="7361039" y="5886004"/>
            <a:ext cx="261670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462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leakage 0 / 0 / 0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0287149" y="5752654"/>
            <a:ext cx="5101679" cy="590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0534799" y="5886004"/>
            <a:ext cx="47594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grupo inteiro em um só conjunto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14400" y="8753475"/>
            <a:ext cx="16459200" cy="9525"/>
          </a:xfrm>
          <a:prstGeom prst="rect">
            <a:avLst/>
          </a:prstGeom>
          <a:solidFill>
            <a:srgbClr val="DCE5EE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9029700"/>
            <a:ext cx="1530477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22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Dividir por corte colocaria imagens quase idênticas em treino e teste: o modelo reconheceria o exame, não a condição.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6" kern="0" dirty="0">
                <a:solidFill>
                  <a:srgbClr val="0057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16 | BASELINE ESTATÍSTICO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76350"/>
            <a:ext cx="10242739" cy="65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86"/>
              </a:lnSpc>
              <a:buNone/>
            </a:pPr>
            <a:r>
              <a:rPr lang="en-US" sz="43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 que já se resolve sem rede neural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3388280" y="1466850"/>
            <a:ext cx="3985320" cy="495300"/>
          </a:xfrm>
          <a:prstGeom prst="roundRect">
            <a:avLst>
              <a:gd name="adj" fmla="val 50000"/>
            </a:avLst>
          </a:prstGeom>
          <a:solidFill>
            <a:srgbClr val="E3E9F0"/>
          </a:solidFill>
          <a:ln/>
        </p:spPr>
      </p:sp>
      <p:sp>
        <p:nvSpPr>
          <p:cNvPr id="5" name="Text 3"/>
          <p:cNvSpPr/>
          <p:nvPr/>
        </p:nvSpPr>
        <p:spPr>
          <a:xfrm>
            <a:off x="13597830" y="1562100"/>
            <a:ext cx="3685779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teste · por grupo · n = 35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457450"/>
            <a:ext cx="16459200" cy="3400425"/>
          </a:xfrm>
          <a:prstGeom prst="roundRect">
            <a:avLst>
              <a:gd name="adj" fmla="val 5602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457450"/>
            <a:ext cx="16459200" cy="7239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2667000"/>
            <a:ext cx="50413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FD6E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50152" y="2667000"/>
            <a:ext cx="24444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90" kern="0" dirty="0">
                <a:solidFill>
                  <a:srgbClr val="9FD6E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BAL. ACC.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293352" y="2667000"/>
            <a:ext cx="24444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90" kern="0" dirty="0">
                <a:solidFill>
                  <a:srgbClr val="9FD6E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SENSIB.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036552" y="2667000"/>
            <a:ext cx="24444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90" kern="0" dirty="0">
                <a:solidFill>
                  <a:srgbClr val="9FD6E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ESPECIF.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779752" y="2667000"/>
            <a:ext cx="24444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90" kern="0" dirty="0">
                <a:solidFill>
                  <a:srgbClr val="9FD6E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ROC-AUC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514850"/>
            <a:ext cx="16459200" cy="9525"/>
          </a:xfrm>
          <a:prstGeom prst="rect">
            <a:avLst/>
          </a:prstGeom>
          <a:solidFill>
            <a:srgbClr val="E8EDF3"/>
          </a:solidFill>
          <a:ln/>
        </p:spPr>
      </p:sp>
      <p:sp>
        <p:nvSpPr>
          <p:cNvPr id="14" name="Text 12"/>
          <p:cNvSpPr/>
          <p:nvPr/>
        </p:nvSpPr>
        <p:spPr>
          <a:xfrm>
            <a:off x="1219200" y="3486150"/>
            <a:ext cx="536448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Dummy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19200" y="3905250"/>
            <a:ext cx="53644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prevê sempre Steatosis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50152" y="3486150"/>
            <a:ext cx="2444496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8894A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0,5000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9293352" y="3671888"/>
            <a:ext cx="244449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8894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1,0000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036552" y="3671888"/>
            <a:ext cx="244449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8894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0,0000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4779752" y="3671888"/>
            <a:ext cx="244449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8894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n/d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19200" y="4829175"/>
            <a:ext cx="536448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Regressão logística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19200" y="5248275"/>
            <a:ext cx="53644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média e desvio da intensidade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50152" y="4829175"/>
            <a:ext cx="2444496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0,7899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9293352" y="5014913"/>
            <a:ext cx="244449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F29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0,9130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036552" y="5014913"/>
            <a:ext cx="244449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F29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0,6667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4779752" y="5014913"/>
            <a:ext cx="244449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00A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0,8333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14400" y="6276975"/>
            <a:ext cx="16459200" cy="1084808"/>
          </a:xfrm>
          <a:prstGeom prst="roundRect">
            <a:avLst>
              <a:gd name="adj" fmla="val 17561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" y="6276975"/>
            <a:ext cx="76200" cy="1084808"/>
          </a:xfrm>
          <a:prstGeom prst="rect">
            <a:avLst/>
          </a:prstGeom>
          <a:solidFill>
            <a:srgbClr val="00A6D6"/>
          </a:solidFill>
          <a:ln/>
        </p:spPr>
      </p:sp>
      <p:sp>
        <p:nvSpPr>
          <p:cNvPr id="28" name="Text 26"/>
          <p:cNvSpPr/>
          <p:nvPr/>
        </p:nvSpPr>
        <p:spPr>
          <a:xfrm>
            <a:off x="1428750" y="6600825"/>
            <a:ext cx="17057370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744"/>
              </a:lnSpc>
              <a:buNone/>
            </a:pPr>
            <a:r>
              <a:rPr lang="en-US" sz="25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Estatísticas globais simples já carregam parte importante do sinal.</a:t>
            </a:r>
            <a:endParaRPr lang="en-US" sz="2550" dirty="0"/>
          </a:p>
        </p:txBody>
      </p:sp>
      <p:sp>
        <p:nvSpPr>
          <p:cNvPr id="29" name="Shape 27"/>
          <p:cNvSpPr/>
          <p:nvPr/>
        </p:nvSpPr>
        <p:spPr>
          <a:xfrm>
            <a:off x="914400" y="9344025"/>
            <a:ext cx="16459200" cy="9525"/>
          </a:xfrm>
          <a:prstGeom prst="rect">
            <a:avLst/>
          </a:prstGeom>
          <a:solidFill>
            <a:srgbClr val="DCE5EE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553575"/>
            <a:ext cx="588466" cy="24765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0926961" y="9525000"/>
            <a:ext cx="709130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A0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Estudo exploratório | não validado clinicamente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28650"/>
            <a:ext cx="42119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6" kern="0" dirty="0">
                <a:solidFill>
                  <a:srgbClr val="0057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16 | RETOMADA VISUAL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399788" y="628650"/>
            <a:ext cx="66550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Retomada rápida: o professor já apresentou CNNs em aula.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8200" y="1143000"/>
            <a:ext cx="1827276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41"/>
              </a:lnSpc>
              <a:buNone/>
            </a:pPr>
            <a:r>
              <a:rPr lang="en-US" sz="40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Como funciona uma CNN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838200" y="2042815"/>
            <a:ext cx="91015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00A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CONVOLUÇÃO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500015"/>
            <a:ext cx="8274100" cy="27765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200" y="5428952"/>
            <a:ext cx="910151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filtro percorre a imagem e forma um mapa de atributos.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569500" y="2042815"/>
            <a:ext cx="86683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00A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FILTROS</a:t>
            </a:r>
            <a:endParaRPr lang="en-US" sz="1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5643" y="2500015"/>
            <a:ext cx="4348014" cy="37909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569500" y="6443365"/>
            <a:ext cx="866833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filtro revela um padrão diferente.</a:t>
            </a:r>
            <a:endParaRPr lang="en-US" sz="2100" dirty="0"/>
          </a:p>
        </p:txBody>
      </p:sp>
      <p:sp>
        <p:nvSpPr>
          <p:cNvPr id="11" name="Shape 7"/>
          <p:cNvSpPr/>
          <p:nvPr/>
        </p:nvSpPr>
        <p:spPr>
          <a:xfrm>
            <a:off x="838200" y="7600950"/>
            <a:ext cx="16611600" cy="1685925"/>
          </a:xfrm>
          <a:prstGeom prst="roundRect">
            <a:avLst>
              <a:gd name="adj" fmla="val 9040"/>
            </a:avLst>
          </a:prstGeom>
          <a:solidFill>
            <a:srgbClr val="F5F8FB"/>
          </a:solidFill>
          <a:ln/>
        </p:spPr>
      </p:sp>
      <p:sp>
        <p:nvSpPr>
          <p:cNvPr id="12" name="Text 8"/>
          <p:cNvSpPr/>
          <p:nvPr/>
        </p:nvSpPr>
        <p:spPr>
          <a:xfrm>
            <a:off x="1143000" y="8291513"/>
            <a:ext cx="2565023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Max pooling 2 × 2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3855839" y="7791450"/>
            <a:ext cx="361950" cy="304800"/>
          </a:xfrm>
          <a:prstGeom prst="rect">
            <a:avLst/>
          </a:prstGeom>
          <a:solidFill>
            <a:srgbClr val="D9E7F2"/>
          </a:solidFill>
          <a:ln/>
        </p:spPr>
      </p:sp>
      <p:sp>
        <p:nvSpPr>
          <p:cNvPr id="14" name="Text 10"/>
          <p:cNvSpPr/>
          <p:nvPr/>
        </p:nvSpPr>
        <p:spPr>
          <a:xfrm>
            <a:off x="3817739" y="7791450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4246364" y="7791450"/>
            <a:ext cx="361950" cy="304800"/>
          </a:xfrm>
          <a:prstGeom prst="rect">
            <a:avLst/>
          </a:prstGeom>
          <a:solidFill>
            <a:srgbClr val="D9E7F2"/>
          </a:solidFill>
          <a:ln/>
        </p:spPr>
      </p:sp>
      <p:sp>
        <p:nvSpPr>
          <p:cNvPr id="16" name="Text 12"/>
          <p:cNvSpPr/>
          <p:nvPr/>
        </p:nvSpPr>
        <p:spPr>
          <a:xfrm>
            <a:off x="4208264" y="7791450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4636889" y="7791450"/>
            <a:ext cx="361950" cy="304800"/>
          </a:xfrm>
          <a:prstGeom prst="rect">
            <a:avLst/>
          </a:prstGeom>
          <a:solidFill>
            <a:srgbClr val="EAF1F7"/>
          </a:solidFill>
          <a:ln/>
        </p:spPr>
      </p:sp>
      <p:sp>
        <p:nvSpPr>
          <p:cNvPr id="18" name="Text 14"/>
          <p:cNvSpPr/>
          <p:nvPr/>
        </p:nvSpPr>
        <p:spPr>
          <a:xfrm>
            <a:off x="4598789" y="7791450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027414" y="7791450"/>
            <a:ext cx="361950" cy="304800"/>
          </a:xfrm>
          <a:prstGeom prst="rect">
            <a:avLst/>
          </a:prstGeom>
          <a:solidFill>
            <a:srgbClr val="EAF1F7"/>
          </a:solidFill>
          <a:ln/>
        </p:spPr>
      </p:sp>
      <p:sp>
        <p:nvSpPr>
          <p:cNvPr id="20" name="Text 16"/>
          <p:cNvSpPr/>
          <p:nvPr/>
        </p:nvSpPr>
        <p:spPr>
          <a:xfrm>
            <a:off x="4989314" y="7791450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3855839" y="8124825"/>
            <a:ext cx="361950" cy="304800"/>
          </a:xfrm>
          <a:prstGeom prst="rect">
            <a:avLst/>
          </a:prstGeom>
          <a:solidFill>
            <a:srgbClr val="D9E7F2"/>
          </a:solidFill>
          <a:ln/>
        </p:spPr>
      </p:sp>
      <p:sp>
        <p:nvSpPr>
          <p:cNvPr id="22" name="Text 18"/>
          <p:cNvSpPr/>
          <p:nvPr/>
        </p:nvSpPr>
        <p:spPr>
          <a:xfrm>
            <a:off x="3817739" y="8124825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4246364" y="8124825"/>
            <a:ext cx="361950" cy="304800"/>
          </a:xfrm>
          <a:prstGeom prst="rect">
            <a:avLst/>
          </a:prstGeom>
          <a:solidFill>
            <a:srgbClr val="D9E7F2"/>
          </a:solidFill>
          <a:ln/>
        </p:spPr>
      </p:sp>
      <p:sp>
        <p:nvSpPr>
          <p:cNvPr id="24" name="Text 20"/>
          <p:cNvSpPr/>
          <p:nvPr/>
        </p:nvSpPr>
        <p:spPr>
          <a:xfrm>
            <a:off x="4208264" y="8124825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4636889" y="8124825"/>
            <a:ext cx="361950" cy="304800"/>
          </a:xfrm>
          <a:prstGeom prst="rect">
            <a:avLst/>
          </a:prstGeom>
          <a:solidFill>
            <a:srgbClr val="EAF1F7"/>
          </a:solidFill>
          <a:ln/>
        </p:spPr>
      </p:sp>
      <p:sp>
        <p:nvSpPr>
          <p:cNvPr id="26" name="Text 22"/>
          <p:cNvSpPr/>
          <p:nvPr/>
        </p:nvSpPr>
        <p:spPr>
          <a:xfrm>
            <a:off x="4598789" y="8124825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5027414" y="8124825"/>
            <a:ext cx="361950" cy="304800"/>
          </a:xfrm>
          <a:prstGeom prst="rect">
            <a:avLst/>
          </a:prstGeom>
          <a:solidFill>
            <a:srgbClr val="EAF1F7"/>
          </a:solidFill>
          <a:ln/>
        </p:spPr>
      </p:sp>
      <p:sp>
        <p:nvSpPr>
          <p:cNvPr id="28" name="Text 24"/>
          <p:cNvSpPr/>
          <p:nvPr/>
        </p:nvSpPr>
        <p:spPr>
          <a:xfrm>
            <a:off x="4989314" y="8124825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3855839" y="8458200"/>
            <a:ext cx="361950" cy="304800"/>
          </a:xfrm>
          <a:prstGeom prst="rect">
            <a:avLst/>
          </a:prstGeom>
          <a:solidFill>
            <a:srgbClr val="EAF1F7"/>
          </a:solidFill>
          <a:ln/>
        </p:spPr>
      </p:sp>
      <p:sp>
        <p:nvSpPr>
          <p:cNvPr id="30" name="Text 26"/>
          <p:cNvSpPr/>
          <p:nvPr/>
        </p:nvSpPr>
        <p:spPr>
          <a:xfrm>
            <a:off x="3817739" y="8458200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4246364" y="8458200"/>
            <a:ext cx="361950" cy="304800"/>
          </a:xfrm>
          <a:prstGeom prst="rect">
            <a:avLst/>
          </a:prstGeom>
          <a:solidFill>
            <a:srgbClr val="EAF1F7"/>
          </a:solidFill>
          <a:ln/>
        </p:spPr>
      </p:sp>
      <p:sp>
        <p:nvSpPr>
          <p:cNvPr id="32" name="Text 28"/>
          <p:cNvSpPr/>
          <p:nvPr/>
        </p:nvSpPr>
        <p:spPr>
          <a:xfrm>
            <a:off x="4208264" y="8458200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4636889" y="8458200"/>
            <a:ext cx="361950" cy="304800"/>
          </a:xfrm>
          <a:prstGeom prst="rect">
            <a:avLst/>
          </a:prstGeom>
          <a:solidFill>
            <a:srgbClr val="D9E7F2"/>
          </a:solidFill>
          <a:ln/>
        </p:spPr>
      </p:sp>
      <p:sp>
        <p:nvSpPr>
          <p:cNvPr id="34" name="Text 30"/>
          <p:cNvSpPr/>
          <p:nvPr/>
        </p:nvSpPr>
        <p:spPr>
          <a:xfrm>
            <a:off x="4598789" y="8458200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35" name="Shape 31"/>
          <p:cNvSpPr/>
          <p:nvPr/>
        </p:nvSpPr>
        <p:spPr>
          <a:xfrm>
            <a:off x="5027414" y="8458200"/>
            <a:ext cx="361950" cy="304800"/>
          </a:xfrm>
          <a:prstGeom prst="rect">
            <a:avLst/>
          </a:prstGeom>
          <a:solidFill>
            <a:srgbClr val="D9E7F2"/>
          </a:solidFill>
          <a:ln/>
        </p:spPr>
      </p:sp>
      <p:sp>
        <p:nvSpPr>
          <p:cNvPr id="36" name="Text 32"/>
          <p:cNvSpPr/>
          <p:nvPr/>
        </p:nvSpPr>
        <p:spPr>
          <a:xfrm>
            <a:off x="4989314" y="8458200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3855839" y="8791575"/>
            <a:ext cx="361950" cy="304800"/>
          </a:xfrm>
          <a:prstGeom prst="rect">
            <a:avLst/>
          </a:prstGeom>
          <a:solidFill>
            <a:srgbClr val="EAF1F7"/>
          </a:solidFill>
          <a:ln/>
        </p:spPr>
      </p:sp>
      <p:sp>
        <p:nvSpPr>
          <p:cNvPr id="38" name="Text 34"/>
          <p:cNvSpPr/>
          <p:nvPr/>
        </p:nvSpPr>
        <p:spPr>
          <a:xfrm>
            <a:off x="3817739" y="8791575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39" name="Shape 35"/>
          <p:cNvSpPr/>
          <p:nvPr/>
        </p:nvSpPr>
        <p:spPr>
          <a:xfrm>
            <a:off x="4246364" y="8791575"/>
            <a:ext cx="361950" cy="304800"/>
          </a:xfrm>
          <a:prstGeom prst="rect">
            <a:avLst/>
          </a:prstGeom>
          <a:solidFill>
            <a:srgbClr val="EAF1F7"/>
          </a:solidFill>
          <a:ln/>
        </p:spPr>
      </p:sp>
      <p:sp>
        <p:nvSpPr>
          <p:cNvPr id="40" name="Text 36"/>
          <p:cNvSpPr/>
          <p:nvPr/>
        </p:nvSpPr>
        <p:spPr>
          <a:xfrm>
            <a:off x="4208264" y="8791575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41" name="Shape 37"/>
          <p:cNvSpPr/>
          <p:nvPr/>
        </p:nvSpPr>
        <p:spPr>
          <a:xfrm>
            <a:off x="4636889" y="8791575"/>
            <a:ext cx="361950" cy="304800"/>
          </a:xfrm>
          <a:prstGeom prst="rect">
            <a:avLst/>
          </a:prstGeom>
          <a:solidFill>
            <a:srgbClr val="D9E7F2"/>
          </a:solidFill>
          <a:ln/>
        </p:spPr>
      </p:sp>
      <p:sp>
        <p:nvSpPr>
          <p:cNvPr id="42" name="Text 38"/>
          <p:cNvSpPr/>
          <p:nvPr/>
        </p:nvSpPr>
        <p:spPr>
          <a:xfrm>
            <a:off x="4598789" y="8791575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800" dirty="0"/>
          </a:p>
        </p:txBody>
      </p:sp>
      <p:sp>
        <p:nvSpPr>
          <p:cNvPr id="43" name="Shape 39"/>
          <p:cNvSpPr/>
          <p:nvPr/>
        </p:nvSpPr>
        <p:spPr>
          <a:xfrm>
            <a:off x="5027414" y="8791575"/>
            <a:ext cx="361950" cy="304800"/>
          </a:xfrm>
          <a:prstGeom prst="rect">
            <a:avLst/>
          </a:prstGeom>
          <a:solidFill>
            <a:srgbClr val="D9E7F2"/>
          </a:solidFill>
          <a:ln/>
        </p:spPr>
      </p:sp>
      <p:sp>
        <p:nvSpPr>
          <p:cNvPr id="44" name="Text 40"/>
          <p:cNvSpPr/>
          <p:nvPr/>
        </p:nvSpPr>
        <p:spPr>
          <a:xfrm>
            <a:off x="4989314" y="8791575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800" dirty="0"/>
          </a:p>
        </p:txBody>
      </p:sp>
      <p:sp>
        <p:nvSpPr>
          <p:cNvPr id="45" name="Text 41"/>
          <p:cNvSpPr/>
          <p:nvPr/>
        </p:nvSpPr>
        <p:spPr>
          <a:xfrm>
            <a:off x="5560814" y="8281987"/>
            <a:ext cx="21237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AA6B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950" dirty="0"/>
          </a:p>
        </p:txBody>
      </p:sp>
      <p:sp>
        <p:nvSpPr>
          <p:cNvPr id="46" name="Shape 42"/>
          <p:cNvSpPr/>
          <p:nvPr/>
        </p:nvSpPr>
        <p:spPr>
          <a:xfrm>
            <a:off x="5868442" y="8086725"/>
            <a:ext cx="400050" cy="342900"/>
          </a:xfrm>
          <a:prstGeom prst="rect">
            <a:avLst/>
          </a:prstGeom>
          <a:solidFill>
            <a:srgbClr val="00A6D6"/>
          </a:solidFill>
          <a:ln/>
        </p:spPr>
      </p:sp>
      <p:sp>
        <p:nvSpPr>
          <p:cNvPr id="47" name="Text 43"/>
          <p:cNvSpPr/>
          <p:nvPr/>
        </p:nvSpPr>
        <p:spPr>
          <a:xfrm>
            <a:off x="5830342" y="8086725"/>
            <a:ext cx="4762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800" dirty="0"/>
          </a:p>
        </p:txBody>
      </p:sp>
      <p:sp>
        <p:nvSpPr>
          <p:cNvPr id="48" name="Shape 44"/>
          <p:cNvSpPr/>
          <p:nvPr/>
        </p:nvSpPr>
        <p:spPr>
          <a:xfrm>
            <a:off x="6297067" y="8086725"/>
            <a:ext cx="400050" cy="342900"/>
          </a:xfrm>
          <a:prstGeom prst="rect">
            <a:avLst/>
          </a:prstGeom>
          <a:solidFill>
            <a:srgbClr val="00A6D6"/>
          </a:solidFill>
          <a:ln/>
        </p:spPr>
      </p:sp>
      <p:sp>
        <p:nvSpPr>
          <p:cNvPr id="49" name="Text 45"/>
          <p:cNvSpPr/>
          <p:nvPr/>
        </p:nvSpPr>
        <p:spPr>
          <a:xfrm>
            <a:off x="6258967" y="8086725"/>
            <a:ext cx="4762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50" name="Shape 46"/>
          <p:cNvSpPr/>
          <p:nvPr/>
        </p:nvSpPr>
        <p:spPr>
          <a:xfrm>
            <a:off x="5868442" y="8458200"/>
            <a:ext cx="400050" cy="342900"/>
          </a:xfrm>
          <a:prstGeom prst="rect">
            <a:avLst/>
          </a:prstGeom>
          <a:solidFill>
            <a:srgbClr val="00A6D6"/>
          </a:solidFill>
          <a:ln/>
        </p:spPr>
      </p:sp>
      <p:sp>
        <p:nvSpPr>
          <p:cNvPr id="51" name="Text 47"/>
          <p:cNvSpPr/>
          <p:nvPr/>
        </p:nvSpPr>
        <p:spPr>
          <a:xfrm>
            <a:off x="5830342" y="8458200"/>
            <a:ext cx="4762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1800" dirty="0"/>
          </a:p>
        </p:txBody>
      </p:sp>
      <p:sp>
        <p:nvSpPr>
          <p:cNvPr id="52" name="Shape 48"/>
          <p:cNvSpPr/>
          <p:nvPr/>
        </p:nvSpPr>
        <p:spPr>
          <a:xfrm>
            <a:off x="6297067" y="8458200"/>
            <a:ext cx="400050" cy="342900"/>
          </a:xfrm>
          <a:prstGeom prst="rect">
            <a:avLst/>
          </a:prstGeom>
          <a:solidFill>
            <a:srgbClr val="00A6D6"/>
          </a:solidFill>
          <a:ln/>
        </p:spPr>
      </p:sp>
      <p:sp>
        <p:nvSpPr>
          <p:cNvPr id="53" name="Text 49"/>
          <p:cNvSpPr/>
          <p:nvPr/>
        </p:nvSpPr>
        <p:spPr>
          <a:xfrm>
            <a:off x="6258967" y="8458200"/>
            <a:ext cx="4762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800" dirty="0"/>
          </a:p>
        </p:txBody>
      </p:sp>
      <p:sp>
        <p:nvSpPr>
          <p:cNvPr id="54" name="Text 50"/>
          <p:cNvSpPr/>
          <p:nvPr/>
        </p:nvSpPr>
        <p:spPr>
          <a:xfrm>
            <a:off x="14013359" y="8267700"/>
            <a:ext cx="344480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Pooling reduz a dimensão.</a:t>
            </a:r>
            <a:endParaRPr lang="en-US" sz="2100" dirty="0"/>
          </a:p>
        </p:txBody>
      </p:sp>
      <p:sp>
        <p:nvSpPr>
          <p:cNvPr id="55" name="Shape 51"/>
          <p:cNvSpPr/>
          <p:nvPr/>
        </p:nvSpPr>
        <p:spPr>
          <a:xfrm>
            <a:off x="838200" y="9458325"/>
            <a:ext cx="16611600" cy="9525"/>
          </a:xfrm>
          <a:prstGeom prst="rect">
            <a:avLst/>
          </a:prstGeom>
          <a:solidFill>
            <a:srgbClr val="E8EDF3"/>
          </a:solidFill>
          <a:ln/>
        </p:spPr>
      </p:sp>
      <p:sp>
        <p:nvSpPr>
          <p:cNvPr id="56" name="Text 52"/>
          <p:cNvSpPr/>
          <p:nvPr/>
        </p:nvSpPr>
        <p:spPr>
          <a:xfrm>
            <a:off x="838200" y="9601200"/>
            <a:ext cx="10151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94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Figuras: Trevisan (2021), Data Hackers/Medium. Diagrama de pooling: elaboração própria.</a:t>
            </a:r>
            <a:endParaRPr lang="en-US" sz="1800" dirty="0"/>
          </a:p>
        </p:txBody>
      </p:sp>
      <p:pic>
        <p:nvPicPr>
          <p:cNvPr id="5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1334" y="9629775"/>
            <a:ext cx="588466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28650"/>
            <a:ext cx="182727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6" kern="0" dirty="0">
                <a:solidFill>
                  <a:srgbClr val="0057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16 | MODELO DO PROJETO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1181100"/>
            <a:ext cx="4186252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41"/>
              </a:lnSpc>
              <a:buNone/>
            </a:pPr>
            <a:r>
              <a:rPr lang="en-US" sz="40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CNN utilizada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2776597" y="1228725"/>
            <a:ext cx="4673203" cy="6381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043297" y="1343025"/>
            <a:ext cx="120223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A6D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23.585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4302680" y="1438275"/>
            <a:ext cx="316846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parâmetros treináveis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8200" y="2286000"/>
            <a:ext cx="2263080" cy="1569541"/>
          </a:xfrm>
          <a:prstGeom prst="roundRect">
            <a:avLst>
              <a:gd name="adj" fmla="val 10924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76506" y="2713583"/>
            <a:ext cx="198646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Imagem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76506" y="3123158"/>
            <a:ext cx="198646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× 256 × 256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53680" y="2286000"/>
            <a:ext cx="222945" cy="1607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AA6B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552825" y="2286000"/>
            <a:ext cx="2530971" cy="1569541"/>
          </a:xfrm>
          <a:prstGeom prst="roundRect">
            <a:avLst>
              <a:gd name="adj" fmla="val 10924"/>
            </a:avLst>
          </a:prstGeom>
          <a:solidFill>
            <a:srgbClr val="003A70"/>
          </a:solidFill>
          <a:ln/>
        </p:spPr>
      </p:sp>
      <p:sp>
        <p:nvSpPr>
          <p:cNvPr id="12" name="Text 10"/>
          <p:cNvSpPr/>
          <p:nvPr/>
        </p:nvSpPr>
        <p:spPr>
          <a:xfrm>
            <a:off x="3635826" y="2533650"/>
            <a:ext cx="23649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Conv 1→16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705225" y="2952750"/>
            <a:ext cx="2226171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1250"/>
              </a:lnSpc>
              <a:buNone/>
            </a:pPr>
            <a:r>
              <a:rPr lang="en-US" sz="1800" dirty="0">
                <a:solidFill>
                  <a:srgbClr val="9FD6E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BatchNorm ReLU · MaxPool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36196" y="2286000"/>
            <a:ext cx="222945" cy="1607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AA6B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6535341" y="2286000"/>
            <a:ext cx="2530971" cy="1569541"/>
          </a:xfrm>
          <a:prstGeom prst="roundRect">
            <a:avLst>
              <a:gd name="adj" fmla="val 10924"/>
            </a:avLst>
          </a:prstGeom>
          <a:solidFill>
            <a:srgbClr val="003A70"/>
          </a:solidFill>
          <a:ln/>
        </p:spPr>
      </p:sp>
      <p:sp>
        <p:nvSpPr>
          <p:cNvPr id="16" name="Text 14"/>
          <p:cNvSpPr/>
          <p:nvPr/>
        </p:nvSpPr>
        <p:spPr>
          <a:xfrm>
            <a:off x="6618342" y="2533650"/>
            <a:ext cx="23649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Conv 16→32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687741" y="2952750"/>
            <a:ext cx="2226171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1250"/>
              </a:lnSpc>
              <a:buNone/>
            </a:pPr>
            <a:r>
              <a:rPr lang="en-US" sz="1800" dirty="0">
                <a:solidFill>
                  <a:srgbClr val="9FD6E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BatchNorm ReLU · MaxPool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218712" y="2286000"/>
            <a:ext cx="222945" cy="1607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AA6B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517856" y="2286000"/>
            <a:ext cx="2569071" cy="1569541"/>
          </a:xfrm>
          <a:prstGeom prst="roundRect">
            <a:avLst>
              <a:gd name="adj" fmla="val 10924"/>
            </a:avLst>
          </a:prstGeom>
          <a:solidFill>
            <a:srgbClr val="0F5C8C"/>
          </a:solidFill>
          <a:ln w="19050">
            <a:solidFill>
              <a:srgbClr val="00A6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19908" y="2552700"/>
            <a:ext cx="23649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Conv 32→64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689306" y="2971800"/>
            <a:ext cx="2226171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1250"/>
              </a:lnSpc>
              <a:buNone/>
            </a:pPr>
            <a:r>
              <a:rPr lang="en-US" sz="1800" dirty="0">
                <a:solidFill>
                  <a:srgbClr val="C6E9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BatchNorm ReLU · MaxPool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239327" y="2286000"/>
            <a:ext cx="222945" cy="1607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AA6B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2538472" y="2286000"/>
            <a:ext cx="2272903" cy="1569541"/>
          </a:xfrm>
          <a:prstGeom prst="roundRect">
            <a:avLst>
              <a:gd name="adj" fmla="val 10924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2690872" y="2570708"/>
            <a:ext cx="196810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8485"/>
              </a:lnSpc>
              <a:buNone/>
            </a:pPr>
            <a:r>
              <a:rPr lang="en-US" sz="19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Adaptive Avg Pooling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2634377" y="3266033"/>
            <a:ext cx="208109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Dropout 0,25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963775" y="2286000"/>
            <a:ext cx="222945" cy="1607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AA6B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5262920" y="2286000"/>
            <a:ext cx="2186880" cy="1569541"/>
          </a:xfrm>
          <a:prstGeom prst="roundRect">
            <a:avLst>
              <a:gd name="adj" fmla="val 10924"/>
            </a:avLst>
          </a:prstGeom>
          <a:solidFill>
            <a:srgbClr val="00A6D6"/>
          </a:solidFill>
          <a:ln/>
        </p:spPr>
      </p:sp>
      <p:sp>
        <p:nvSpPr>
          <p:cNvPr id="28" name="Text 26"/>
          <p:cNvSpPr/>
          <p:nvPr/>
        </p:nvSpPr>
        <p:spPr>
          <a:xfrm>
            <a:off x="15363126" y="2725489"/>
            <a:ext cx="198646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8485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Linear 64→1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5363126" y="3111252"/>
            <a:ext cx="198646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AF8F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 por corte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357271" y="3969841"/>
            <a:ext cx="890178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94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Camada-alvo do Grad-CAM: a terceira convolução (features.8)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38200" y="4731841"/>
            <a:ext cx="16611600" cy="1941165"/>
          </a:xfrm>
          <a:prstGeom prst="roundRect">
            <a:avLst>
              <a:gd name="adj" fmla="val 9814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219200" y="5055691"/>
            <a:ext cx="174345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00A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 IMAGEM AO EXAME INFERIDO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219200" y="5608141"/>
            <a:ext cx="3574405" cy="741015"/>
          </a:xfrm>
          <a:prstGeom prst="roundRect">
            <a:avLst>
              <a:gd name="adj" fmla="val 17996"/>
            </a:avLst>
          </a:prstGeom>
          <a:solidFill>
            <a:srgbClr val="F5F8FB"/>
          </a:solidFill>
          <a:ln/>
        </p:spPr>
      </p:sp>
      <p:sp>
        <p:nvSpPr>
          <p:cNvPr id="34" name="Text 32"/>
          <p:cNvSpPr/>
          <p:nvPr/>
        </p:nvSpPr>
        <p:spPr>
          <a:xfrm>
            <a:off x="1298934" y="5817691"/>
            <a:ext cx="3414937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412"/>
              </a:lnSpc>
              <a:buNone/>
            </a:pPr>
            <a:r>
              <a:rPr lang="en-US" sz="1950" dirty="0">
                <a:solidFill>
                  <a:srgbClr val="003A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cortes do exame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4984105" y="5816650"/>
            <a:ext cx="21237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AA6B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5310783" y="5608141"/>
            <a:ext cx="3574554" cy="741015"/>
          </a:xfrm>
          <a:prstGeom prst="roundRect">
            <a:avLst>
              <a:gd name="adj" fmla="val 17996"/>
            </a:avLst>
          </a:prstGeom>
          <a:solidFill>
            <a:srgbClr val="F5F8FB"/>
          </a:solidFill>
          <a:ln/>
        </p:spPr>
      </p:sp>
      <p:sp>
        <p:nvSpPr>
          <p:cNvPr id="37" name="Text 35"/>
          <p:cNvSpPr/>
          <p:nvPr/>
        </p:nvSpPr>
        <p:spPr>
          <a:xfrm>
            <a:off x="5390515" y="5817691"/>
            <a:ext cx="3415091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412"/>
              </a:lnSpc>
              <a:buNone/>
            </a:pPr>
            <a:r>
              <a:rPr lang="en-US" sz="1950" dirty="0">
                <a:solidFill>
                  <a:srgbClr val="003A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probabilidade por corte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9075837" y="5816650"/>
            <a:ext cx="21237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AA6B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9402514" y="5608141"/>
            <a:ext cx="3574554" cy="741015"/>
          </a:xfrm>
          <a:prstGeom prst="roundRect">
            <a:avLst>
              <a:gd name="adj" fmla="val 17996"/>
            </a:avLst>
          </a:prstGeom>
          <a:solidFill>
            <a:srgbClr val="E6F4FA"/>
          </a:solidFill>
          <a:ln/>
        </p:spPr>
      </p:sp>
      <p:sp>
        <p:nvSpPr>
          <p:cNvPr id="40" name="Text 38"/>
          <p:cNvSpPr/>
          <p:nvPr/>
        </p:nvSpPr>
        <p:spPr>
          <a:xfrm>
            <a:off x="9482246" y="5817691"/>
            <a:ext cx="3415091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412"/>
              </a:lnSpc>
              <a:buNone/>
            </a:pPr>
            <a:r>
              <a:rPr lang="en-US" sz="1950" dirty="0">
                <a:solidFill>
                  <a:srgbClr val="003A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média simples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3167568" y="5816650"/>
            <a:ext cx="21237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AA6B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13494246" y="5608141"/>
            <a:ext cx="3574554" cy="741015"/>
          </a:xfrm>
          <a:prstGeom prst="roundRect">
            <a:avLst>
              <a:gd name="adj" fmla="val 17996"/>
            </a:avLst>
          </a:prstGeom>
          <a:solidFill>
            <a:srgbClr val="003A70"/>
          </a:solidFill>
          <a:ln/>
        </p:spPr>
      </p:sp>
      <p:sp>
        <p:nvSpPr>
          <p:cNvPr id="43" name="Text 41"/>
          <p:cNvSpPr/>
          <p:nvPr/>
        </p:nvSpPr>
        <p:spPr>
          <a:xfrm>
            <a:off x="13573978" y="5817691"/>
            <a:ext cx="3415091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412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predição por exame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838200" y="9382125"/>
            <a:ext cx="16611600" cy="9525"/>
          </a:xfrm>
          <a:prstGeom prst="rect">
            <a:avLst/>
          </a:prstGeom>
          <a:solidFill>
            <a:srgbClr val="DCE5EE"/>
          </a:solidFill>
          <a:ln/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9591675"/>
            <a:ext cx="588466" cy="24765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11003161" y="9563100"/>
            <a:ext cx="709130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A0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Estudo exploratório | não validado clinicamente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28650"/>
            <a:ext cx="182727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6" kern="0" dirty="0">
                <a:solidFill>
                  <a:srgbClr val="0057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16 | RESULTADO PRINCIPAL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1162050"/>
            <a:ext cx="8950732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41"/>
              </a:lnSpc>
              <a:buNone/>
            </a:pPr>
            <a:r>
              <a:rPr lang="en-US" sz="40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Desempenho por exame inferido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4150280" y="1323975"/>
            <a:ext cx="3299520" cy="495300"/>
          </a:xfrm>
          <a:prstGeom prst="roundRect">
            <a:avLst>
              <a:gd name="adj" fmla="val 50000"/>
            </a:avLst>
          </a:prstGeom>
          <a:solidFill>
            <a:srgbClr val="E3E9F0"/>
          </a:solidFill>
          <a:ln/>
        </p:spPr>
      </p:sp>
      <p:sp>
        <p:nvSpPr>
          <p:cNvPr id="5" name="Text 3"/>
          <p:cNvSpPr/>
          <p:nvPr/>
        </p:nvSpPr>
        <p:spPr>
          <a:xfrm>
            <a:off x="14359830" y="1419225"/>
            <a:ext cx="2979405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teste · n = 35 exames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609850" y="2162175"/>
            <a:ext cx="21145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Pred. Healthy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48200" y="2162175"/>
            <a:ext cx="21145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Pred. Steatosis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2638425"/>
            <a:ext cx="1733550" cy="190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Real Healthy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86050" y="2676525"/>
            <a:ext cx="1962150" cy="1790700"/>
          </a:xfrm>
          <a:prstGeom prst="roundRect">
            <a:avLst>
              <a:gd name="adj" fmla="val 8511"/>
            </a:avLst>
          </a:prstGeom>
          <a:solidFill>
            <a:srgbClr val="E6F4EC"/>
          </a:solidFill>
          <a:ln/>
        </p:spPr>
      </p:sp>
      <p:sp>
        <p:nvSpPr>
          <p:cNvPr id="10" name="Text 8"/>
          <p:cNvSpPr/>
          <p:nvPr/>
        </p:nvSpPr>
        <p:spPr>
          <a:xfrm>
            <a:off x="3529905" y="3010793"/>
            <a:ext cx="3506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8A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53532" y="3315593"/>
            <a:ext cx="903238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51"/>
              </a:lnSpc>
              <a:buNone/>
            </a:pPr>
            <a:r>
              <a:rPr lang="en-US" sz="5850" b="1" dirty="0">
                <a:solidFill>
                  <a:srgbClr val="1462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</a:t>
            </a:r>
            <a:endParaRPr lang="en-US" sz="5850" dirty="0"/>
          </a:p>
        </p:txBody>
      </p:sp>
      <p:sp>
        <p:nvSpPr>
          <p:cNvPr id="12" name="Shape 10"/>
          <p:cNvSpPr/>
          <p:nvPr/>
        </p:nvSpPr>
        <p:spPr>
          <a:xfrm>
            <a:off x="4724400" y="2676525"/>
            <a:ext cx="1962150" cy="1790700"/>
          </a:xfrm>
          <a:prstGeom prst="roundRect">
            <a:avLst>
              <a:gd name="adj" fmla="val 8511"/>
            </a:avLst>
          </a:prstGeom>
          <a:solidFill>
            <a:srgbClr val="FBECE9"/>
          </a:solidFill>
          <a:ln/>
        </p:spPr>
      </p:sp>
      <p:sp>
        <p:nvSpPr>
          <p:cNvPr id="13" name="Text 11"/>
          <p:cNvSpPr/>
          <p:nvPr/>
        </p:nvSpPr>
        <p:spPr>
          <a:xfrm>
            <a:off x="5568255" y="3010793"/>
            <a:ext cx="3506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039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4019" y="3315593"/>
            <a:ext cx="519113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51"/>
              </a:lnSpc>
              <a:buNone/>
            </a:pPr>
            <a:r>
              <a:rPr lang="en-US" sz="5850" b="1" dirty="0">
                <a:solidFill>
                  <a:srgbClr val="8E2C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5850" dirty="0"/>
          </a:p>
        </p:txBody>
      </p:sp>
      <p:sp>
        <p:nvSpPr>
          <p:cNvPr id="15" name="Text 13"/>
          <p:cNvSpPr/>
          <p:nvPr/>
        </p:nvSpPr>
        <p:spPr>
          <a:xfrm>
            <a:off x="762000" y="4505325"/>
            <a:ext cx="1733550" cy="190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Real Steatosis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686050" y="4543425"/>
            <a:ext cx="1962150" cy="1790700"/>
          </a:xfrm>
          <a:prstGeom prst="roundRect">
            <a:avLst>
              <a:gd name="adj" fmla="val 8511"/>
            </a:avLst>
          </a:prstGeom>
          <a:solidFill>
            <a:srgbClr val="FBECE9"/>
          </a:solidFill>
          <a:ln/>
        </p:spPr>
      </p:sp>
      <p:sp>
        <p:nvSpPr>
          <p:cNvPr id="17" name="Text 15"/>
          <p:cNvSpPr/>
          <p:nvPr/>
        </p:nvSpPr>
        <p:spPr>
          <a:xfrm>
            <a:off x="3529905" y="4877693"/>
            <a:ext cx="3506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039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38971" y="5182493"/>
            <a:ext cx="532507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51"/>
              </a:lnSpc>
              <a:buNone/>
            </a:pPr>
            <a:r>
              <a:rPr lang="en-US" sz="5850" b="1" dirty="0">
                <a:solidFill>
                  <a:srgbClr val="8E2C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5850" dirty="0"/>
          </a:p>
        </p:txBody>
      </p:sp>
      <p:sp>
        <p:nvSpPr>
          <p:cNvPr id="19" name="Shape 17"/>
          <p:cNvSpPr/>
          <p:nvPr/>
        </p:nvSpPr>
        <p:spPr>
          <a:xfrm>
            <a:off x="4724400" y="4543425"/>
            <a:ext cx="1962150" cy="1790700"/>
          </a:xfrm>
          <a:prstGeom prst="roundRect">
            <a:avLst>
              <a:gd name="adj" fmla="val 8511"/>
            </a:avLst>
          </a:prstGeom>
          <a:solidFill>
            <a:srgbClr val="E6F4EC"/>
          </a:solidFill>
          <a:ln/>
        </p:spPr>
      </p:sp>
      <p:sp>
        <p:nvSpPr>
          <p:cNvPr id="20" name="Text 18"/>
          <p:cNvSpPr/>
          <p:nvPr/>
        </p:nvSpPr>
        <p:spPr>
          <a:xfrm>
            <a:off x="5568255" y="4877693"/>
            <a:ext cx="3506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8A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16885" y="5182493"/>
            <a:ext cx="853380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51"/>
              </a:lnSpc>
              <a:buNone/>
            </a:pPr>
            <a:r>
              <a:rPr lang="en-US" sz="5850" b="1" dirty="0">
                <a:solidFill>
                  <a:srgbClr val="1462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18</a:t>
            </a:r>
            <a:endParaRPr lang="en-US" sz="5850" dirty="0"/>
          </a:p>
        </p:txBody>
      </p:sp>
      <p:sp>
        <p:nvSpPr>
          <p:cNvPr id="22" name="Shape 20"/>
          <p:cNvSpPr/>
          <p:nvPr/>
        </p:nvSpPr>
        <p:spPr>
          <a:xfrm>
            <a:off x="7219950" y="2162175"/>
            <a:ext cx="10229850" cy="1543050"/>
          </a:xfrm>
          <a:prstGeom prst="roundRect">
            <a:avLst>
              <a:gd name="adj" fmla="val 11111"/>
            </a:avLst>
          </a:prstGeom>
          <a:solidFill>
            <a:srgbClr val="003A70"/>
          </a:solidFill>
          <a:ln/>
        </p:spPr>
      </p:sp>
      <p:sp>
        <p:nvSpPr>
          <p:cNvPr id="23" name="Text 21"/>
          <p:cNvSpPr/>
          <p:nvPr/>
        </p:nvSpPr>
        <p:spPr>
          <a:xfrm>
            <a:off x="7543800" y="2428875"/>
            <a:ext cx="105403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FD6E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BALANCED ACCURACY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43800" y="2809875"/>
            <a:ext cx="251607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0,8080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10040689" y="3086100"/>
            <a:ext cx="422456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FD6E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IC 95% [0,6643 ; 0,9375]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7219950" y="3895725"/>
            <a:ext cx="50482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429500" y="4143375"/>
            <a:ext cx="19614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Sensibilidade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996910" y="4067175"/>
            <a:ext cx="11379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0,7826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2401550" y="3895725"/>
            <a:ext cx="50482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12611100" y="4143375"/>
            <a:ext cx="211236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Especificidade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6156632" y="4067175"/>
            <a:ext cx="115981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0,8333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7219950" y="4752975"/>
            <a:ext cx="50482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7429500" y="5000625"/>
            <a:ext cx="10364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ROC-AUC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961936" y="4924425"/>
            <a:ext cx="117291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A6D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0,9203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12401550" y="4752975"/>
            <a:ext cx="50482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12611100" y="5000625"/>
            <a:ext cx="211236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Avg. precision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166604" y="4924425"/>
            <a:ext cx="114984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A6D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0,9624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7219950" y="5667375"/>
            <a:ext cx="10229850" cy="19431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7505700" y="5895975"/>
            <a:ext cx="106241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00A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CNN × REGRESSÃO LOGÍSTICA: POR EXAME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7505700" y="6372225"/>
            <a:ext cx="3130451" cy="1009650"/>
          </a:xfrm>
          <a:prstGeom prst="roundRect">
            <a:avLst>
              <a:gd name="adj" fmla="val 11321"/>
            </a:avLst>
          </a:prstGeom>
          <a:solidFill>
            <a:srgbClr val="E6F4EC"/>
          </a:solidFill>
          <a:ln/>
        </p:spPr>
      </p:sp>
      <p:sp>
        <p:nvSpPr>
          <p:cNvPr id="41" name="Text 39"/>
          <p:cNvSpPr/>
          <p:nvPr/>
        </p:nvSpPr>
        <p:spPr>
          <a:xfrm>
            <a:off x="7696200" y="6524625"/>
            <a:ext cx="30243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62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Especif.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696200" y="6867525"/>
            <a:ext cx="30243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62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+0,1666</a:t>
            </a:r>
            <a:endParaRPr lang="en-US" sz="2250" dirty="0"/>
          </a:p>
        </p:txBody>
      </p:sp>
      <p:sp>
        <p:nvSpPr>
          <p:cNvPr id="43" name="Shape 41"/>
          <p:cNvSpPr/>
          <p:nvPr/>
        </p:nvSpPr>
        <p:spPr>
          <a:xfrm>
            <a:off x="10769501" y="6372225"/>
            <a:ext cx="3130600" cy="1009650"/>
          </a:xfrm>
          <a:prstGeom prst="roundRect">
            <a:avLst>
              <a:gd name="adj" fmla="val 11321"/>
            </a:avLst>
          </a:prstGeom>
          <a:solidFill>
            <a:srgbClr val="E6F4EC"/>
          </a:solidFill>
          <a:ln/>
        </p:spPr>
      </p:sp>
      <p:sp>
        <p:nvSpPr>
          <p:cNvPr id="44" name="Text 42"/>
          <p:cNvSpPr/>
          <p:nvPr/>
        </p:nvSpPr>
        <p:spPr>
          <a:xfrm>
            <a:off x="10960001" y="6524625"/>
            <a:ext cx="30245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62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ROC-AUC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960001" y="6867525"/>
            <a:ext cx="302456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62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+0,0870</a:t>
            </a:r>
            <a:endParaRPr lang="en-US" sz="2250" dirty="0"/>
          </a:p>
        </p:txBody>
      </p:sp>
      <p:sp>
        <p:nvSpPr>
          <p:cNvPr id="46" name="Shape 44"/>
          <p:cNvSpPr/>
          <p:nvPr/>
        </p:nvSpPr>
        <p:spPr>
          <a:xfrm>
            <a:off x="14033450" y="6372225"/>
            <a:ext cx="3130600" cy="1009650"/>
          </a:xfrm>
          <a:prstGeom prst="roundRect">
            <a:avLst>
              <a:gd name="adj" fmla="val 11321"/>
            </a:avLst>
          </a:prstGeom>
          <a:solidFill>
            <a:srgbClr val="FBECE9"/>
          </a:solidFill>
          <a:ln/>
        </p:spPr>
      </p:sp>
      <p:sp>
        <p:nvSpPr>
          <p:cNvPr id="47" name="Text 45"/>
          <p:cNvSpPr/>
          <p:nvPr/>
        </p:nvSpPr>
        <p:spPr>
          <a:xfrm>
            <a:off x="14223950" y="6524625"/>
            <a:ext cx="30245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2C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Sensib.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4223950" y="6867525"/>
            <a:ext cx="302456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8E2C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−0,1304</a:t>
            </a:r>
            <a:endParaRPr lang="en-US" sz="2250" dirty="0"/>
          </a:p>
        </p:txBody>
      </p:sp>
      <p:sp>
        <p:nvSpPr>
          <p:cNvPr id="49" name="Shape 47"/>
          <p:cNvSpPr/>
          <p:nvPr/>
        </p:nvSpPr>
        <p:spPr>
          <a:xfrm>
            <a:off x="838200" y="9286875"/>
            <a:ext cx="16611600" cy="9525"/>
          </a:xfrm>
          <a:prstGeom prst="rect">
            <a:avLst/>
          </a:prstGeom>
          <a:solidFill>
            <a:srgbClr val="DCE5EE"/>
          </a:solidFill>
          <a:ln/>
        </p:spPr>
      </p:sp>
      <p:sp>
        <p:nvSpPr>
          <p:cNvPr id="50" name="Text 48"/>
          <p:cNvSpPr/>
          <p:nvPr/>
        </p:nvSpPr>
        <p:spPr>
          <a:xfrm>
            <a:off x="838200" y="9505950"/>
            <a:ext cx="965485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Nenhuma diferença entre os modelos é robusta com 35 exames.</a:t>
            </a:r>
            <a:endParaRPr lang="en-US" sz="2250" dirty="0"/>
          </a:p>
        </p:txBody>
      </p:sp>
      <p:sp>
        <p:nvSpPr>
          <p:cNvPr id="51" name="Text 49"/>
          <p:cNvSpPr/>
          <p:nvPr/>
        </p:nvSpPr>
        <p:spPr>
          <a:xfrm>
            <a:off x="14843671" y="9534525"/>
            <a:ext cx="2866742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A0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Estudo exploratório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571500"/>
            <a:ext cx="5391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6" kern="0" dirty="0">
                <a:solidFill>
                  <a:srgbClr val="0057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16 | CASOS DE ACERTO E ERRO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060561" y="571500"/>
            <a:ext cx="48281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 = probabilidade média do exame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8200" y="1085850"/>
            <a:ext cx="18272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37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Quatro exames do conjunto de teste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838200" y="1866900"/>
            <a:ext cx="8134350" cy="3571875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" y="2700338"/>
            <a:ext cx="1905000" cy="1905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0" y="2781300"/>
            <a:ext cx="2910929" cy="419100"/>
          </a:xfrm>
          <a:prstGeom prst="roundRect">
            <a:avLst>
              <a:gd name="adj" fmla="val 50000"/>
            </a:avLst>
          </a:prstGeom>
          <a:solidFill>
            <a:srgbClr val="1F8A5B"/>
          </a:solidFill>
          <a:ln/>
        </p:spPr>
      </p:sp>
      <p:sp>
        <p:nvSpPr>
          <p:cNvPr id="8" name="Text 5"/>
          <p:cNvSpPr/>
          <p:nvPr/>
        </p:nvSpPr>
        <p:spPr>
          <a:xfrm>
            <a:off x="3352800" y="2838450"/>
            <a:ext cx="269345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VERDADEIRO NEGATIVO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200400" y="3314700"/>
            <a:ext cx="36207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82-img-00039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200400" y="3695700"/>
            <a:ext cx="362079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Healthy → predito Healthy</a:t>
            </a:r>
            <a:endParaRPr lang="en-US" sz="1875" dirty="0"/>
          </a:p>
        </p:txBody>
      </p:sp>
      <p:sp>
        <p:nvSpPr>
          <p:cNvPr id="11" name="Shape 8"/>
          <p:cNvSpPr/>
          <p:nvPr/>
        </p:nvSpPr>
        <p:spPr>
          <a:xfrm>
            <a:off x="3200400" y="4105275"/>
            <a:ext cx="1539329" cy="419100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/>
        </p:spPr>
      </p:sp>
      <p:sp>
        <p:nvSpPr>
          <p:cNvPr id="12" name="Text 9"/>
          <p:cNvSpPr/>
          <p:nvPr/>
        </p:nvSpPr>
        <p:spPr>
          <a:xfrm>
            <a:off x="3352800" y="4162425"/>
            <a:ext cx="13107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62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 = 0,060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9315450" y="1866900"/>
            <a:ext cx="8134350" cy="3571875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544050" y="2700338"/>
            <a:ext cx="1905000" cy="19050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1677650" y="2781300"/>
            <a:ext cx="2910929" cy="419100"/>
          </a:xfrm>
          <a:prstGeom prst="roundRect">
            <a:avLst>
              <a:gd name="adj" fmla="val 50000"/>
            </a:avLst>
          </a:prstGeom>
          <a:solidFill>
            <a:srgbClr val="1F8A5B"/>
          </a:solidFill>
          <a:ln/>
        </p:spPr>
      </p:sp>
      <p:sp>
        <p:nvSpPr>
          <p:cNvPr id="16" name="Text 12"/>
          <p:cNvSpPr/>
          <p:nvPr/>
        </p:nvSpPr>
        <p:spPr>
          <a:xfrm>
            <a:off x="11830050" y="2838450"/>
            <a:ext cx="269345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VERDADEIRO POSITIVO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1677650" y="3314700"/>
            <a:ext cx="39744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194-img-00032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1677650" y="3695700"/>
            <a:ext cx="39744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Steatosis → predito Steatosis</a:t>
            </a:r>
            <a:endParaRPr lang="en-US" sz="1875" dirty="0"/>
          </a:p>
        </p:txBody>
      </p:sp>
      <p:sp>
        <p:nvSpPr>
          <p:cNvPr id="19" name="Shape 15"/>
          <p:cNvSpPr/>
          <p:nvPr/>
        </p:nvSpPr>
        <p:spPr>
          <a:xfrm>
            <a:off x="11677650" y="4105275"/>
            <a:ext cx="1539329" cy="419100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/>
        </p:spPr>
      </p:sp>
      <p:sp>
        <p:nvSpPr>
          <p:cNvPr id="20" name="Text 16"/>
          <p:cNvSpPr/>
          <p:nvPr/>
        </p:nvSpPr>
        <p:spPr>
          <a:xfrm>
            <a:off x="11830050" y="4162425"/>
            <a:ext cx="13107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62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 = 0,997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838200" y="5648325"/>
            <a:ext cx="8134350" cy="3571875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</p:spPr>
      </p:sp>
      <p:sp>
        <p:nvSpPr>
          <p:cNvPr id="22" name="Shape 18"/>
          <p:cNvSpPr/>
          <p:nvPr/>
        </p:nvSpPr>
        <p:spPr>
          <a:xfrm>
            <a:off x="838200" y="5648325"/>
            <a:ext cx="57150" cy="3571875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23950" y="6481763"/>
            <a:ext cx="1905000" cy="19050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3257550" y="6562725"/>
            <a:ext cx="2225129" cy="4191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5" name="Text 20"/>
          <p:cNvSpPr/>
          <p:nvPr/>
        </p:nvSpPr>
        <p:spPr>
          <a:xfrm>
            <a:off x="3409950" y="6619875"/>
            <a:ext cx="19965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FALSO POSITIVO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3257550" y="7096125"/>
            <a:ext cx="379760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114-img-00064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3257550" y="7477125"/>
            <a:ext cx="37976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Healthy → predito Steatosis</a:t>
            </a:r>
            <a:endParaRPr lang="en-US" sz="1875" dirty="0"/>
          </a:p>
        </p:txBody>
      </p:sp>
      <p:sp>
        <p:nvSpPr>
          <p:cNvPr id="28" name="Shape 23"/>
          <p:cNvSpPr/>
          <p:nvPr/>
        </p:nvSpPr>
        <p:spPr>
          <a:xfrm>
            <a:off x="3257550" y="7886700"/>
            <a:ext cx="1539329" cy="419100"/>
          </a:xfrm>
          <a:prstGeom prst="roundRect">
            <a:avLst>
              <a:gd name="adj" fmla="val 50000"/>
            </a:avLst>
          </a:prstGeom>
          <a:solidFill>
            <a:srgbClr val="FBECE9"/>
          </a:solidFill>
          <a:ln/>
        </p:spPr>
      </p:sp>
      <p:sp>
        <p:nvSpPr>
          <p:cNvPr id="29" name="Text 24"/>
          <p:cNvSpPr/>
          <p:nvPr/>
        </p:nvSpPr>
        <p:spPr>
          <a:xfrm>
            <a:off x="3409950" y="7943850"/>
            <a:ext cx="13107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2C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 = 0,806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9315450" y="5648325"/>
            <a:ext cx="8134350" cy="3571875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</p:spPr>
      </p:sp>
      <p:sp>
        <p:nvSpPr>
          <p:cNvPr id="31" name="Shape 26"/>
          <p:cNvSpPr/>
          <p:nvPr/>
        </p:nvSpPr>
        <p:spPr>
          <a:xfrm>
            <a:off x="9315450" y="5648325"/>
            <a:ext cx="57150" cy="3571875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601200" y="6481763"/>
            <a:ext cx="1905000" cy="1905000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11734800" y="6562725"/>
            <a:ext cx="2225129" cy="4191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34" name="Text 28"/>
          <p:cNvSpPr/>
          <p:nvPr/>
        </p:nvSpPr>
        <p:spPr>
          <a:xfrm>
            <a:off x="11887200" y="6619875"/>
            <a:ext cx="19965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FALSO NEGATIVO</a:t>
            </a:r>
            <a:endParaRPr lang="en-US" sz="1800" dirty="0"/>
          </a:p>
        </p:txBody>
      </p:sp>
      <p:sp>
        <p:nvSpPr>
          <p:cNvPr id="35" name="Text 29"/>
          <p:cNvSpPr/>
          <p:nvPr/>
        </p:nvSpPr>
        <p:spPr>
          <a:xfrm>
            <a:off x="11734800" y="7096125"/>
            <a:ext cx="379760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207-img-00043</a:t>
            </a:r>
            <a:endParaRPr lang="en-US" sz="1800" dirty="0"/>
          </a:p>
        </p:txBody>
      </p:sp>
      <p:sp>
        <p:nvSpPr>
          <p:cNvPr id="36" name="Text 30"/>
          <p:cNvSpPr/>
          <p:nvPr/>
        </p:nvSpPr>
        <p:spPr>
          <a:xfrm>
            <a:off x="11734800" y="7477125"/>
            <a:ext cx="37976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Steatosis → predito Healthy</a:t>
            </a:r>
            <a:endParaRPr lang="en-US" sz="1875" dirty="0"/>
          </a:p>
        </p:txBody>
      </p:sp>
      <p:sp>
        <p:nvSpPr>
          <p:cNvPr id="37" name="Shape 31"/>
          <p:cNvSpPr/>
          <p:nvPr/>
        </p:nvSpPr>
        <p:spPr>
          <a:xfrm>
            <a:off x="11734800" y="7886700"/>
            <a:ext cx="1539329" cy="419100"/>
          </a:xfrm>
          <a:prstGeom prst="roundRect">
            <a:avLst>
              <a:gd name="adj" fmla="val 50000"/>
            </a:avLst>
          </a:prstGeom>
          <a:solidFill>
            <a:srgbClr val="FBECE9"/>
          </a:solidFill>
          <a:ln/>
        </p:spPr>
      </p:sp>
      <p:sp>
        <p:nvSpPr>
          <p:cNvPr id="38" name="Text 32"/>
          <p:cNvSpPr/>
          <p:nvPr/>
        </p:nvSpPr>
        <p:spPr>
          <a:xfrm>
            <a:off x="11887200" y="7943850"/>
            <a:ext cx="13107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2C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 = 0,116</a:t>
            </a:r>
            <a:endParaRPr lang="en-US" sz="1800" dirty="0"/>
          </a:p>
        </p:txBody>
      </p:sp>
      <p:sp>
        <p:nvSpPr>
          <p:cNvPr id="39" name="Shape 33"/>
          <p:cNvSpPr/>
          <p:nvPr/>
        </p:nvSpPr>
        <p:spPr>
          <a:xfrm>
            <a:off x="838200" y="9429750"/>
            <a:ext cx="16611600" cy="9525"/>
          </a:xfrm>
          <a:prstGeom prst="rect">
            <a:avLst/>
          </a:prstGeom>
          <a:solidFill>
            <a:srgbClr val="DCE5EE"/>
          </a:solidFill>
          <a:ln/>
        </p:spPr>
      </p:sp>
      <p:sp>
        <p:nvSpPr>
          <p:cNvPr id="40" name="Text 34"/>
          <p:cNvSpPr/>
          <p:nvPr/>
        </p:nvSpPr>
        <p:spPr>
          <a:xfrm>
            <a:off x="838200" y="9591675"/>
            <a:ext cx="762139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Nenhum destes casos recebeu leitura médica estruturada.</a:t>
            </a:r>
            <a:endParaRPr lang="en-US" sz="1950" dirty="0"/>
          </a:p>
        </p:txBody>
      </p:sp>
      <p:sp>
        <p:nvSpPr>
          <p:cNvPr id="41" name="Text 35"/>
          <p:cNvSpPr/>
          <p:nvPr/>
        </p:nvSpPr>
        <p:spPr>
          <a:xfrm>
            <a:off x="11003161" y="9596438"/>
            <a:ext cx="709130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A0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Estudo exploratório | não validado clinicamente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552450"/>
            <a:ext cx="30327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6" kern="0" dirty="0">
                <a:solidFill>
                  <a:srgbClr val="0057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16 | GRAD-CAM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26180" y="552450"/>
            <a:ext cx="618598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camada features.8 · mapa 64 × 64 ampliado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8200" y="1047750"/>
            <a:ext cx="18272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37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Onde o modelo concentra evidência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838200" y="1809750"/>
            <a:ext cx="5334000" cy="6619875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2000250"/>
            <a:ext cx="2910929" cy="419100"/>
          </a:xfrm>
          <a:prstGeom prst="roundRect">
            <a:avLst>
              <a:gd name="adj" fmla="val 50000"/>
            </a:avLst>
          </a:prstGeom>
          <a:solidFill>
            <a:srgbClr val="1F8A5B"/>
          </a:solidFill>
          <a:ln/>
        </p:spPr>
      </p:sp>
      <p:sp>
        <p:nvSpPr>
          <p:cNvPr id="7" name="Text 5"/>
          <p:cNvSpPr/>
          <p:nvPr/>
        </p:nvSpPr>
        <p:spPr>
          <a:xfrm>
            <a:off x="1200150" y="2057400"/>
            <a:ext cx="269345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VERDADEIRO POSITIVO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28121" y="2057400"/>
            <a:ext cx="135798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 = 0,997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7750" y="2552700"/>
            <a:ext cx="4914900" cy="3733800"/>
          </a:xfrm>
          <a:prstGeom prst="roundRect">
            <a:avLst>
              <a:gd name="adj" fmla="val 3061"/>
            </a:avLst>
          </a:prstGeom>
          <a:solidFill>
            <a:srgbClr val="00000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15816" r="-15816" t="0" b="0"/>
          <a:stretch/>
        </p:blipFill>
        <p:spPr>
          <a:xfrm>
            <a:off x="1047750" y="2552700"/>
            <a:ext cx="4914900" cy="373380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7750" y="6448425"/>
            <a:ext cx="876300" cy="8763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76450" y="6400800"/>
            <a:ext cx="42748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194-img-00032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076450" y="6743700"/>
            <a:ext cx="400278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Ativação ampla no centro do abdome.</a:t>
            </a:r>
            <a:endParaRPr lang="en-US" sz="1875" dirty="0"/>
          </a:p>
        </p:txBody>
      </p:sp>
      <p:sp>
        <p:nvSpPr>
          <p:cNvPr id="14" name="Shape 10"/>
          <p:cNvSpPr/>
          <p:nvPr/>
        </p:nvSpPr>
        <p:spPr>
          <a:xfrm>
            <a:off x="6477000" y="1809750"/>
            <a:ext cx="5334000" cy="6619875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6477000" y="1809750"/>
            <a:ext cx="5334000" cy="4762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Shape 12"/>
          <p:cNvSpPr/>
          <p:nvPr/>
        </p:nvSpPr>
        <p:spPr>
          <a:xfrm>
            <a:off x="6686550" y="2047875"/>
            <a:ext cx="2225129" cy="4191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7" name="Text 13"/>
          <p:cNvSpPr/>
          <p:nvPr/>
        </p:nvSpPr>
        <p:spPr>
          <a:xfrm>
            <a:off x="6838950" y="2105025"/>
            <a:ext cx="19965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FALSO POSITIVO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0366921" y="2105025"/>
            <a:ext cx="135798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 = 0,829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686550" y="2600325"/>
            <a:ext cx="4914900" cy="3733800"/>
          </a:xfrm>
          <a:prstGeom prst="roundRect">
            <a:avLst>
              <a:gd name="adj" fmla="val 3061"/>
            </a:avLst>
          </a:prstGeom>
          <a:solidFill>
            <a:srgbClr val="00000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-15816" r="-15816" t="0" b="0"/>
          <a:stretch/>
        </p:blipFill>
        <p:spPr>
          <a:xfrm>
            <a:off x="6686550" y="2600325"/>
            <a:ext cx="4914900" cy="3733800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686550" y="6448425"/>
            <a:ext cx="876300" cy="8763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15250" y="6557963"/>
            <a:ext cx="3727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114-img-00064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715250" y="6900863"/>
            <a:ext cx="372769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Foco fora do contorno do corpo.</a:t>
            </a:r>
            <a:endParaRPr lang="en-US" sz="1875" dirty="0"/>
          </a:p>
        </p:txBody>
      </p:sp>
      <p:sp>
        <p:nvSpPr>
          <p:cNvPr id="24" name="Shape 18"/>
          <p:cNvSpPr/>
          <p:nvPr/>
        </p:nvSpPr>
        <p:spPr>
          <a:xfrm>
            <a:off x="12115800" y="1809750"/>
            <a:ext cx="5334000" cy="6619875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12115800" y="1809750"/>
            <a:ext cx="5334000" cy="4762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Shape 20"/>
          <p:cNvSpPr/>
          <p:nvPr/>
        </p:nvSpPr>
        <p:spPr>
          <a:xfrm>
            <a:off x="12325350" y="2047875"/>
            <a:ext cx="2225129" cy="4191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7" name="Text 21"/>
          <p:cNvSpPr/>
          <p:nvPr/>
        </p:nvSpPr>
        <p:spPr>
          <a:xfrm>
            <a:off x="12477750" y="2105025"/>
            <a:ext cx="19965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FALSO NEGATIVO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16005721" y="2105025"/>
            <a:ext cx="135798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 = 0,282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12325350" y="2600325"/>
            <a:ext cx="4914900" cy="3733800"/>
          </a:xfrm>
          <a:prstGeom prst="roundRect">
            <a:avLst>
              <a:gd name="adj" fmla="val 3061"/>
            </a:avLst>
          </a:prstGeom>
          <a:solidFill>
            <a:srgbClr val="000000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rcRect l="-15816" r="-15816" t="0" b="0"/>
          <a:stretch/>
        </p:blipFill>
        <p:spPr>
          <a:xfrm>
            <a:off x="12325350" y="2600325"/>
            <a:ext cx="4914900" cy="3733800"/>
          </a:xfrm>
          <a:prstGeom prst="rect">
            <a:avLst/>
          </a:prstGeom>
        </p:spPr>
      </p:pic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2325350" y="6496050"/>
            <a:ext cx="876300" cy="8763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3354050" y="6448425"/>
            <a:ext cx="42748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72-img-00032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13354050" y="6791325"/>
            <a:ext cx="400278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Ativação dispersa na parede corporal.</a:t>
            </a:r>
            <a:endParaRPr lang="en-US" sz="1875" dirty="0"/>
          </a:p>
        </p:txBody>
      </p:sp>
      <p:sp>
        <p:nvSpPr>
          <p:cNvPr id="34" name="Shape 26"/>
          <p:cNvSpPr/>
          <p:nvPr/>
        </p:nvSpPr>
        <p:spPr>
          <a:xfrm>
            <a:off x="838200" y="8639175"/>
            <a:ext cx="16611600" cy="1266825"/>
          </a:xfrm>
          <a:prstGeom prst="roundRect">
            <a:avLst>
              <a:gd name="adj" fmla="val 13534"/>
            </a:avLst>
          </a:prstGeom>
          <a:solidFill>
            <a:srgbClr val="FFFFFF"/>
          </a:solidFill>
          <a:ln/>
        </p:spPr>
      </p:sp>
      <p:sp>
        <p:nvSpPr>
          <p:cNvPr id="35" name="Shape 27"/>
          <p:cNvSpPr/>
          <p:nvPr/>
        </p:nvSpPr>
        <p:spPr>
          <a:xfrm>
            <a:off x="838200" y="8639175"/>
            <a:ext cx="76200" cy="1266825"/>
          </a:xfrm>
          <a:prstGeom prst="rect">
            <a:avLst/>
          </a:prstGeom>
          <a:solidFill>
            <a:srgbClr val="00A6D6"/>
          </a:solidFill>
          <a:ln/>
        </p:spPr>
      </p:sp>
      <p:sp>
        <p:nvSpPr>
          <p:cNvPr id="36" name="Text 28"/>
          <p:cNvSpPr/>
          <p:nvPr/>
        </p:nvSpPr>
        <p:spPr>
          <a:xfrm>
            <a:off x="1276350" y="8886825"/>
            <a:ext cx="1628584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Alguns casos apresentam ativação próxima à região hepática. Outros apresentam atenção em regiões externas ou pouco plausíveis.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552450"/>
            <a:ext cx="48859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6" kern="0" dirty="0">
                <a:solidFill>
                  <a:srgbClr val="0057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16 | EXPERIMENTO COM ROI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591800" y="552450"/>
            <a:ext cx="7543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caixa geométrica fixa · 47,6% da área · heurística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8200" y="1047750"/>
            <a:ext cx="18272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37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Restringir a região hepática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570235" y="1809750"/>
            <a:ext cx="58952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90" kern="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IMAGEM COMPLETA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196228" y="1809750"/>
            <a:ext cx="58953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90" kern="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RECORTE APROXIMADO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22378" y="1809750"/>
            <a:ext cx="58953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90" kern="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MÁSCARA HEURÍSTICA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22475" y="2228850"/>
            <a:ext cx="2190750" cy="2190750"/>
          </a:xfrm>
          <a:prstGeom prst="roundRect">
            <a:avLst>
              <a:gd name="adj" fmla="val 5217"/>
            </a:avLst>
          </a:prstGeom>
          <a:solidFill>
            <a:srgbClr val="0000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2475" y="2228850"/>
            <a:ext cx="2190750" cy="21907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79284" y="2228850"/>
            <a:ext cx="2129135" cy="2190750"/>
          </a:xfrm>
          <a:prstGeom prst="roundRect">
            <a:avLst>
              <a:gd name="adj" fmla="val 5368"/>
            </a:avLst>
          </a:prstGeom>
          <a:solidFill>
            <a:srgbClr val="0000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9284" y="2228850"/>
            <a:ext cx="2129135" cy="21907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3674626" y="2228850"/>
            <a:ext cx="2190750" cy="2190750"/>
          </a:xfrm>
          <a:prstGeom prst="roundRect">
            <a:avLst>
              <a:gd name="adj" fmla="val 5217"/>
            </a:avLst>
          </a:prstGeom>
          <a:solidFill>
            <a:srgbClr val="00000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4626" y="2228850"/>
            <a:ext cx="2190750" cy="2190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8200" y="4495800"/>
            <a:ext cx="182727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Healthy · 106-img-00060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2422475" y="4991100"/>
            <a:ext cx="2190750" cy="2190750"/>
          </a:xfrm>
          <a:prstGeom prst="roundRect">
            <a:avLst>
              <a:gd name="adj" fmla="val 5217"/>
            </a:avLst>
          </a:prstGeom>
          <a:solidFill>
            <a:srgbClr val="00000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2475" y="4991100"/>
            <a:ext cx="2190750" cy="219075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079284" y="4991100"/>
            <a:ext cx="2129135" cy="2190750"/>
          </a:xfrm>
          <a:prstGeom prst="roundRect">
            <a:avLst>
              <a:gd name="adj" fmla="val 5368"/>
            </a:avLst>
          </a:prstGeom>
          <a:solidFill>
            <a:srgbClr val="000000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9284" y="4991100"/>
            <a:ext cx="2129135" cy="219075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13674626" y="4991100"/>
            <a:ext cx="2190750" cy="2190750"/>
          </a:xfrm>
          <a:prstGeom prst="roundRect">
            <a:avLst>
              <a:gd name="adj" fmla="val 5217"/>
            </a:avLst>
          </a:prstGeom>
          <a:solidFill>
            <a:srgbClr val="000000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74626" y="4991100"/>
            <a:ext cx="2190750" cy="21907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38200" y="7258050"/>
            <a:ext cx="182727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Hepatic Steatosis · 194-img-00032</a:t>
            </a:r>
            <a:endParaRPr lang="en-US" sz="1800" dirty="0"/>
          </a:p>
        </p:txBody>
      </p:sp>
      <p:sp>
        <p:nvSpPr>
          <p:cNvPr id="22" name="Shape 14"/>
          <p:cNvSpPr/>
          <p:nvPr/>
        </p:nvSpPr>
        <p:spPr>
          <a:xfrm>
            <a:off x="838200" y="8334375"/>
            <a:ext cx="7222182" cy="157162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23" name="Text 15"/>
          <p:cNvSpPr/>
          <p:nvPr/>
        </p:nvSpPr>
        <p:spPr>
          <a:xfrm>
            <a:off x="1104900" y="8543925"/>
            <a:ext cx="735766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00A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BALANCED ACCURACY | TESTE, N = 35</a:t>
            </a:r>
            <a:endParaRPr lang="en-US" sz="1800" dirty="0"/>
          </a:p>
        </p:txBody>
      </p:sp>
      <p:sp>
        <p:nvSpPr>
          <p:cNvPr id="24" name="Text 16"/>
          <p:cNvSpPr/>
          <p:nvPr/>
        </p:nvSpPr>
        <p:spPr>
          <a:xfrm>
            <a:off x="1104900" y="8982075"/>
            <a:ext cx="13367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0,8080</a:t>
            </a:r>
            <a:endParaRPr lang="en-US" sz="2550" dirty="0"/>
          </a:p>
        </p:txBody>
      </p:sp>
      <p:sp>
        <p:nvSpPr>
          <p:cNvPr id="25" name="Text 17"/>
          <p:cNvSpPr/>
          <p:nvPr/>
        </p:nvSpPr>
        <p:spPr>
          <a:xfrm>
            <a:off x="1104900" y="9391650"/>
            <a:ext cx="1336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completa</a:t>
            </a:r>
            <a:endParaRPr lang="en-US" sz="1800" dirty="0"/>
          </a:p>
        </p:txBody>
      </p:sp>
      <p:sp>
        <p:nvSpPr>
          <p:cNvPr id="26" name="Text 18"/>
          <p:cNvSpPr/>
          <p:nvPr/>
        </p:nvSpPr>
        <p:spPr>
          <a:xfrm>
            <a:off x="2567732" y="8982075"/>
            <a:ext cx="123214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0,8496</a:t>
            </a:r>
            <a:endParaRPr lang="en-US" sz="2550" dirty="0"/>
          </a:p>
        </p:txBody>
      </p:sp>
      <p:sp>
        <p:nvSpPr>
          <p:cNvPr id="27" name="Text 19"/>
          <p:cNvSpPr/>
          <p:nvPr/>
        </p:nvSpPr>
        <p:spPr>
          <a:xfrm>
            <a:off x="2567732" y="9391650"/>
            <a:ext cx="12321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recorte</a:t>
            </a:r>
            <a:endParaRPr lang="en-US" sz="1800" dirty="0"/>
          </a:p>
        </p:txBody>
      </p:sp>
      <p:sp>
        <p:nvSpPr>
          <p:cNvPr id="28" name="Text 20"/>
          <p:cNvSpPr/>
          <p:nvPr/>
        </p:nvSpPr>
        <p:spPr>
          <a:xfrm>
            <a:off x="3971330" y="8982075"/>
            <a:ext cx="126027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0,8098</a:t>
            </a:r>
            <a:endParaRPr lang="en-US" sz="2550" dirty="0"/>
          </a:p>
        </p:txBody>
      </p:sp>
      <p:sp>
        <p:nvSpPr>
          <p:cNvPr id="29" name="Text 21"/>
          <p:cNvSpPr/>
          <p:nvPr/>
        </p:nvSpPr>
        <p:spPr>
          <a:xfrm>
            <a:off x="3971330" y="9391650"/>
            <a:ext cx="126027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máscara</a:t>
            </a:r>
            <a:endParaRPr lang="en-US" sz="1800" dirty="0"/>
          </a:p>
        </p:txBody>
      </p:sp>
      <p:sp>
        <p:nvSpPr>
          <p:cNvPr id="30" name="Shape 22"/>
          <p:cNvSpPr/>
          <p:nvPr/>
        </p:nvSpPr>
        <p:spPr>
          <a:xfrm>
            <a:off x="8327082" y="8334375"/>
            <a:ext cx="9122718" cy="157162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31" name="Shape 23"/>
          <p:cNvSpPr/>
          <p:nvPr/>
        </p:nvSpPr>
        <p:spPr>
          <a:xfrm>
            <a:off x="8327082" y="8334375"/>
            <a:ext cx="76200" cy="1571625"/>
          </a:xfrm>
          <a:prstGeom prst="rect">
            <a:avLst/>
          </a:prstGeom>
          <a:solidFill>
            <a:srgbClr val="00A6D6"/>
          </a:solidFill>
          <a:ln/>
        </p:spPr>
      </p:sp>
      <p:sp>
        <p:nvSpPr>
          <p:cNvPr id="32" name="Text 24"/>
          <p:cNvSpPr/>
          <p:nvPr/>
        </p:nvSpPr>
        <p:spPr>
          <a:xfrm>
            <a:off x="8669982" y="8760172"/>
            <a:ext cx="8768511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Restringir a região hepática não degradou o desempenho, mas não demonstramos melhora robusta.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28650"/>
            <a:ext cx="182727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6" kern="0" dirty="0">
                <a:solidFill>
                  <a:srgbClr val="0057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16 | CONCLUSÃO E PRÓXIMOS PASSOS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1181100"/>
            <a:ext cx="1827276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41"/>
              </a:lnSpc>
              <a:buNone/>
            </a:pPr>
            <a:r>
              <a:rPr lang="en-US" sz="40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Resposta à pergunta de pesquisa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838200" y="2119015"/>
            <a:ext cx="8153400" cy="2087314"/>
          </a:xfrm>
          <a:prstGeom prst="roundRect">
            <a:avLst>
              <a:gd name="adj" fmla="val 9127"/>
            </a:avLst>
          </a:prstGeom>
          <a:solidFill>
            <a:srgbClr val="E6F4EC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2423815"/>
            <a:ext cx="82143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1462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EVIDÊNCIA COMPUTACIONAL INICIAL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1100" y="2842915"/>
            <a:ext cx="821436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52"/>
              </a:lnSpc>
              <a:buNone/>
            </a:pPr>
            <a:r>
              <a:rPr lang="en-US" sz="4350" b="1" dirty="0">
                <a:solidFill>
                  <a:srgbClr val="1462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SIM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1181100" y="3528715"/>
            <a:ext cx="821436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2C5C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Quatro abordagens ficam entre 0,79 e 0,85, acima do acaso.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296400" y="2119015"/>
            <a:ext cx="8153400" cy="2087314"/>
          </a:xfrm>
          <a:prstGeom prst="roundRect">
            <a:avLst>
              <a:gd name="adj" fmla="val 9127"/>
            </a:avLst>
          </a:prstGeom>
          <a:solidFill>
            <a:srgbClr val="FBECE9"/>
          </a:solidFill>
          <a:ln/>
        </p:spPr>
      </p:sp>
      <p:sp>
        <p:nvSpPr>
          <p:cNvPr id="9" name="Text 7"/>
          <p:cNvSpPr/>
          <p:nvPr/>
        </p:nvSpPr>
        <p:spPr>
          <a:xfrm>
            <a:off x="9639300" y="2423815"/>
            <a:ext cx="82143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B03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PLAUSIBILIDADE ANATÔMICA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39300" y="2842915"/>
            <a:ext cx="821436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3750" b="1" dirty="0">
                <a:solidFill>
                  <a:srgbClr val="8E2C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NÃO CONFIRMADA</a:t>
            </a:r>
            <a:endParaRPr lang="en-US" sz="3750" dirty="0"/>
          </a:p>
        </p:txBody>
      </p:sp>
      <p:sp>
        <p:nvSpPr>
          <p:cNvPr id="11" name="Text 9"/>
          <p:cNvSpPr/>
          <p:nvPr/>
        </p:nvSpPr>
        <p:spPr>
          <a:xfrm>
            <a:off x="9639300" y="3476327"/>
            <a:ext cx="821436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7A40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Há ativação fora da região hepática em parte dos casos.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838200" y="4511129"/>
            <a:ext cx="16611600" cy="1098203"/>
          </a:xfrm>
          <a:prstGeom prst="roundRect">
            <a:avLst>
              <a:gd name="adj" fmla="val 17347"/>
            </a:avLst>
          </a:prstGeom>
          <a:solidFill>
            <a:srgbClr val="003A70"/>
          </a:solidFill>
          <a:ln/>
        </p:spPr>
      </p:sp>
      <p:sp>
        <p:nvSpPr>
          <p:cNvPr id="13" name="Text 11"/>
          <p:cNvSpPr/>
          <p:nvPr/>
        </p:nvSpPr>
        <p:spPr>
          <a:xfrm>
            <a:off x="1257300" y="4815929"/>
            <a:ext cx="17350740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149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Há sinal computacional acima do acaso, mas sua origem ainda não foi determinada.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838200" y="5933182"/>
            <a:ext cx="182727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00A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PRÓXIMOS PASSOS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38200" y="6409432"/>
            <a:ext cx="81534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47750" y="6557070"/>
            <a:ext cx="2475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A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451" y="6552307"/>
            <a:ext cx="498745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Quantificar Grad-CAM na região hepática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296400" y="6409432"/>
            <a:ext cx="81534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505950" y="6557070"/>
            <a:ext cx="2475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A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829651" y="6552307"/>
            <a:ext cx="329959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Leitura médica estruturada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838200" y="7133332"/>
            <a:ext cx="81534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750" y="7280970"/>
            <a:ext cx="2475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A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451" y="7276207"/>
            <a:ext cx="46359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Testar relação entre JPEG e predições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296400" y="7133332"/>
            <a:ext cx="81534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505950" y="7280970"/>
            <a:ext cx="2475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A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829651" y="7276207"/>
            <a:ext cx="437664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Múltiplas seeds e validação cruzada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838200" y="7857232"/>
            <a:ext cx="81534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47750" y="8004870"/>
            <a:ext cx="2475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A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71451" y="8000107"/>
            <a:ext cx="44147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Obter DICOM e unidades Hounsfield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296400" y="7857232"/>
            <a:ext cx="81534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505950" y="8004870"/>
            <a:ext cx="2475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A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829651" y="8000107"/>
            <a:ext cx="421621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Aplicar segmentação hepática real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838200" y="8581132"/>
            <a:ext cx="81534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1047750" y="8728770"/>
            <a:ext cx="2475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A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71451" y="8724007"/>
            <a:ext cx="217702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Validação externa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838200" y="9382125"/>
            <a:ext cx="16611600" cy="9525"/>
          </a:xfrm>
          <a:prstGeom prst="rect">
            <a:avLst/>
          </a:prstGeom>
          <a:solidFill>
            <a:srgbClr val="DCE5EE"/>
          </a:solidFill>
          <a:ln/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9591675"/>
            <a:ext cx="588466" cy="24765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1003161" y="9563100"/>
            <a:ext cx="709130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A0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Estudo exploratório | não validado clinicamente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6" kern="0" dirty="0">
                <a:solidFill>
                  <a:srgbClr val="00A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APÊNDICE 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810512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41"/>
              </a:lnSpc>
              <a:buNone/>
            </a:pPr>
            <a:r>
              <a:rPr lang="en-US" sz="40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Hiperparâmetros e treinamento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14400" y="2271415"/>
            <a:ext cx="8058150" cy="666750"/>
          </a:xfrm>
          <a:prstGeom prst="roundRect">
            <a:avLst>
              <a:gd name="adj" fmla="val 17143"/>
            </a:avLst>
          </a:prstGeom>
          <a:solidFill>
            <a:srgbClr val="F5F8F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2442865"/>
            <a:ext cx="72270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Perda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802261" y="2442865"/>
            <a:ext cx="539394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BCEWithLogits · pos_weight 0,8028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071515"/>
            <a:ext cx="8058150" cy="666750"/>
          </a:xfrm>
          <a:prstGeom prst="roundRect">
            <a:avLst>
              <a:gd name="adj" fmla="val 17143"/>
            </a:avLst>
          </a:prstGeom>
          <a:solidFill>
            <a:srgbClr val="F5F8FB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3242965"/>
            <a:ext cx="13450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Otimizador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139630" y="3242965"/>
            <a:ext cx="392284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Adam · lr 1e-3 · wd 1e-4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3871615"/>
            <a:ext cx="8058150" cy="666750"/>
          </a:xfrm>
          <a:prstGeom prst="roundRect">
            <a:avLst>
              <a:gd name="adj" fmla="val 17143"/>
            </a:avLst>
          </a:prstGeom>
          <a:solidFill>
            <a:srgbClr val="F5F8FB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4043065"/>
            <a:ext cx="121071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Batch size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8408640" y="4043065"/>
            <a:ext cx="3734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400" y="4671715"/>
            <a:ext cx="8058150" cy="666750"/>
          </a:xfrm>
          <a:prstGeom prst="roundRect">
            <a:avLst>
              <a:gd name="adj" fmla="val 17143"/>
            </a:avLst>
          </a:prstGeom>
          <a:solidFill>
            <a:srgbClr val="F5F8F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1100" y="4843165"/>
            <a:ext cx="88046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Épocas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882580" y="4843165"/>
            <a:ext cx="310559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máx. 20 · melhor 11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5471815"/>
            <a:ext cx="8058150" cy="666750"/>
          </a:xfrm>
          <a:prstGeom prst="roundRect">
            <a:avLst>
              <a:gd name="adj" fmla="val 17143"/>
            </a:avLst>
          </a:prstGeom>
          <a:solidFill>
            <a:srgbClr val="F5F8FB"/>
          </a:solidFill>
          <a:ln/>
        </p:spPr>
      </p:sp>
      <p:sp>
        <p:nvSpPr>
          <p:cNvPr id="17" name="Text 15"/>
          <p:cNvSpPr/>
          <p:nvPr/>
        </p:nvSpPr>
        <p:spPr>
          <a:xfrm>
            <a:off x="1181100" y="5643265"/>
            <a:ext cx="162532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Seed · device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031111" y="5643265"/>
            <a:ext cx="294221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42 · CPU · ~13 min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14400" y="6271915"/>
            <a:ext cx="8058150" cy="666750"/>
          </a:xfrm>
          <a:prstGeom prst="roundRect">
            <a:avLst>
              <a:gd name="adj" fmla="val 17143"/>
            </a:avLst>
          </a:prstGeom>
          <a:solidFill>
            <a:srgbClr val="F5F8FB"/>
          </a:solidFill>
          <a:ln/>
        </p:spPr>
      </p:sp>
      <p:sp>
        <p:nvSpPr>
          <p:cNvPr id="20" name="Text 18"/>
          <p:cNvSpPr/>
          <p:nvPr/>
        </p:nvSpPr>
        <p:spPr>
          <a:xfrm>
            <a:off x="1181100" y="6443365"/>
            <a:ext cx="7634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Limiar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517011" y="6443365"/>
            <a:ext cx="126503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0,5 fixo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315450" y="2271415"/>
            <a:ext cx="8058150" cy="1382464"/>
          </a:xfrm>
          <a:prstGeom prst="roundRect">
            <a:avLst>
              <a:gd name="adj" fmla="val 12402"/>
            </a:avLst>
          </a:prstGeom>
          <a:solidFill>
            <a:srgbClr val="F5F8FB"/>
          </a:solidFill>
          <a:ln/>
        </p:spPr>
      </p:sp>
      <p:sp>
        <p:nvSpPr>
          <p:cNvPr id="23" name="Text 21"/>
          <p:cNvSpPr/>
          <p:nvPr/>
        </p:nvSpPr>
        <p:spPr>
          <a:xfrm>
            <a:off x="9639300" y="2557165"/>
            <a:ext cx="81514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00A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PRÉ-PROCESSAMENTO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39300" y="2995315"/>
            <a:ext cx="8151495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Escala de cinza, normalização por 255. Sem aumento de dados.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9315450" y="3844379"/>
            <a:ext cx="8058150" cy="1755279"/>
          </a:xfrm>
          <a:prstGeom prst="roundRect">
            <a:avLst>
              <a:gd name="adj" fmla="val 9768"/>
            </a:avLst>
          </a:prstGeom>
          <a:solidFill>
            <a:srgbClr val="FDF3D3"/>
          </a:solidFill>
          <a:ln/>
        </p:spPr>
      </p:sp>
      <p:sp>
        <p:nvSpPr>
          <p:cNvPr id="26" name="Shape 24"/>
          <p:cNvSpPr/>
          <p:nvPr/>
        </p:nvSpPr>
        <p:spPr>
          <a:xfrm>
            <a:off x="9315450" y="3844379"/>
            <a:ext cx="57150" cy="1755279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27" name="Text 25"/>
          <p:cNvSpPr/>
          <p:nvPr/>
        </p:nvSpPr>
        <p:spPr>
          <a:xfrm>
            <a:off x="9696450" y="4130129"/>
            <a:ext cx="80886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A6A0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PONTOS FRÁGEIS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96450" y="4568279"/>
            <a:ext cx="7573899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5E480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pos_weight foi calculado por corte, mas a avaliação é por exame. O limiar nunca foi otimizado.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914400" y="9324975"/>
            <a:ext cx="16459200" cy="9525"/>
          </a:xfrm>
          <a:prstGeom prst="rect">
            <a:avLst/>
          </a:prstGeom>
          <a:solidFill>
            <a:srgbClr val="E8EDF3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553575"/>
            <a:ext cx="588466" cy="24765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2435780" y="9525000"/>
            <a:ext cx="54316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A0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Apêndice técnico | material de apoio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6" kern="0" dirty="0">
                <a:solidFill>
                  <a:srgbClr val="00A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APÊNDICE 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810512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41"/>
              </a:lnSpc>
              <a:buNone/>
            </a:pPr>
            <a:r>
              <a:rPr lang="en-US" sz="40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MIL: implementado, mas subtreinado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14400" y="1966615"/>
            <a:ext cx="181051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Bag = exame inferido · instância = corte · teste por grupo, n = 35</a:t>
            </a:r>
            <a:endParaRPr lang="en-US" sz="2025" dirty="0"/>
          </a:p>
        </p:txBody>
      </p:sp>
      <p:sp>
        <p:nvSpPr>
          <p:cNvPr id="5" name="Shape 3"/>
          <p:cNvSpPr/>
          <p:nvPr/>
        </p:nvSpPr>
        <p:spPr>
          <a:xfrm>
            <a:off x="914400" y="2661940"/>
            <a:ext cx="16459200" cy="2895600"/>
          </a:xfrm>
          <a:prstGeom prst="roundRect">
            <a:avLst>
              <a:gd name="adj" fmla="val 6579"/>
            </a:avLst>
          </a:prstGeom>
          <a:solidFill>
            <a:srgbClr val="F5F8F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661940"/>
            <a:ext cx="16459200" cy="6477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7" name="Text 5"/>
          <p:cNvSpPr/>
          <p:nvPr/>
        </p:nvSpPr>
        <p:spPr>
          <a:xfrm>
            <a:off x="1200150" y="2833390"/>
            <a:ext cx="42720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FD6E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AGREGAÇÃO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725234" y="2833390"/>
            <a:ext cx="27225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FD6E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BAL. ACC.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64443" y="2833390"/>
            <a:ext cx="27224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FD6E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SENSIB.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603499" y="2833390"/>
            <a:ext cx="27225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FD6E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ESPECIF.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542705" y="2833390"/>
            <a:ext cx="27225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FD6E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ROC-AUC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4052590"/>
            <a:ext cx="16459200" cy="9525"/>
          </a:xfrm>
          <a:prstGeom prst="rect">
            <a:avLst/>
          </a:prstGeom>
          <a:solidFill>
            <a:srgbClr val="E1E8EF"/>
          </a:solidFill>
          <a:ln/>
        </p:spPr>
      </p:sp>
      <p:sp>
        <p:nvSpPr>
          <p:cNvPr id="13" name="Text 11"/>
          <p:cNvSpPr/>
          <p:nvPr/>
        </p:nvSpPr>
        <p:spPr>
          <a:xfrm>
            <a:off x="1200150" y="3519190"/>
            <a:ext cx="427209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mean pooling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725234" y="3519190"/>
            <a:ext cx="27225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0,6087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664443" y="3519190"/>
            <a:ext cx="27224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8E2C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0,2174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603499" y="3519190"/>
            <a:ext cx="27225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462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1,0000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4542705" y="3519190"/>
            <a:ext cx="27225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0,6304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400" y="4805065"/>
            <a:ext cx="16459200" cy="9525"/>
          </a:xfrm>
          <a:prstGeom prst="rect">
            <a:avLst/>
          </a:prstGeom>
          <a:solidFill>
            <a:srgbClr val="E1E8EF"/>
          </a:solidFill>
          <a:ln/>
        </p:spPr>
      </p:sp>
      <p:sp>
        <p:nvSpPr>
          <p:cNvPr id="19" name="Text 17"/>
          <p:cNvSpPr/>
          <p:nvPr/>
        </p:nvSpPr>
        <p:spPr>
          <a:xfrm>
            <a:off x="1200150" y="4271665"/>
            <a:ext cx="427209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max pooling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5725234" y="4271665"/>
            <a:ext cx="27225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0,5054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8664443" y="4271665"/>
            <a:ext cx="27224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8E2C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0,2609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603499" y="4271665"/>
            <a:ext cx="27225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0,7500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4542705" y="4271665"/>
            <a:ext cx="27225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8E2C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0,4710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200150" y="5024140"/>
            <a:ext cx="427209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attention pooling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5725234" y="5024140"/>
            <a:ext cx="27225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0,5181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8664443" y="5024140"/>
            <a:ext cx="27224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462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0,8696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1603499" y="5024140"/>
            <a:ext cx="27225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8E2C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0,1667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4542705" y="5024140"/>
            <a:ext cx="27225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0,6630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14400" y="5919490"/>
            <a:ext cx="8096250" cy="1698129"/>
          </a:xfrm>
          <a:prstGeom prst="roundRect">
            <a:avLst>
              <a:gd name="adj" fmla="val 10096"/>
            </a:avLst>
          </a:prstGeom>
          <a:solidFill>
            <a:srgbClr val="FDF3D3"/>
          </a:solidFill>
          <a:ln/>
        </p:spPr>
      </p:sp>
      <p:sp>
        <p:nvSpPr>
          <p:cNvPr id="30" name="Shape 28"/>
          <p:cNvSpPr/>
          <p:nvPr/>
        </p:nvSpPr>
        <p:spPr>
          <a:xfrm>
            <a:off x="914400" y="5919490"/>
            <a:ext cx="57150" cy="1698129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31" name="Text 29"/>
          <p:cNvSpPr/>
          <p:nvPr/>
        </p:nvSpPr>
        <p:spPr>
          <a:xfrm>
            <a:off x="1295400" y="6186190"/>
            <a:ext cx="81305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A0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CAUSA RAIZ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95400" y="6605290"/>
            <a:ext cx="7613142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5E480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Máximo de 3 épocas, melhores épocas 1 / 2 / 1, resolução 128 × 128, até 12 cortes por bag.</a:t>
            </a:r>
            <a:endParaRPr lang="en-US" sz="2025" dirty="0"/>
          </a:p>
        </p:txBody>
      </p:sp>
      <p:sp>
        <p:nvSpPr>
          <p:cNvPr id="33" name="Shape 31"/>
          <p:cNvSpPr/>
          <p:nvPr/>
        </p:nvSpPr>
        <p:spPr>
          <a:xfrm>
            <a:off x="9277350" y="5919490"/>
            <a:ext cx="8096250" cy="1698129"/>
          </a:xfrm>
          <a:prstGeom prst="roundRect">
            <a:avLst>
              <a:gd name="adj" fmla="val 10096"/>
            </a:avLst>
          </a:prstGeom>
          <a:solidFill>
            <a:srgbClr val="F5F8FB"/>
          </a:solidFill>
          <a:ln/>
        </p:spPr>
      </p:sp>
      <p:sp>
        <p:nvSpPr>
          <p:cNvPr id="34" name="Shape 32"/>
          <p:cNvSpPr/>
          <p:nvPr/>
        </p:nvSpPr>
        <p:spPr>
          <a:xfrm>
            <a:off x="9277350" y="5919490"/>
            <a:ext cx="57150" cy="1698129"/>
          </a:xfrm>
          <a:prstGeom prst="rect">
            <a:avLst/>
          </a:prstGeom>
          <a:solidFill>
            <a:srgbClr val="00A6D6"/>
          </a:solidFill>
          <a:ln/>
        </p:spPr>
      </p:sp>
      <p:sp>
        <p:nvSpPr>
          <p:cNvPr id="35" name="Text 33"/>
          <p:cNvSpPr/>
          <p:nvPr/>
        </p:nvSpPr>
        <p:spPr>
          <a:xfrm>
            <a:off x="9658350" y="6186190"/>
            <a:ext cx="81305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57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LEITURA HONESTA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658350" y="6605290"/>
            <a:ext cx="7613142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comparação MIL × CNN não é justa. Nada se conclui sobre a formulação.</a:t>
            </a:r>
            <a:endParaRPr lang="en-US" sz="2025" dirty="0"/>
          </a:p>
        </p:txBody>
      </p:sp>
      <p:sp>
        <p:nvSpPr>
          <p:cNvPr id="37" name="Shape 35"/>
          <p:cNvSpPr/>
          <p:nvPr/>
        </p:nvSpPr>
        <p:spPr>
          <a:xfrm>
            <a:off x="914400" y="9324975"/>
            <a:ext cx="16459200" cy="9525"/>
          </a:xfrm>
          <a:prstGeom prst="rect">
            <a:avLst/>
          </a:prstGeom>
          <a:solidFill>
            <a:srgbClr val="E8EDF3"/>
          </a:solidFill>
          <a:ln/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553575"/>
            <a:ext cx="588466" cy="24765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2435780" y="9525000"/>
            <a:ext cx="54316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A0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Apêndice técnico | material de apoio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6" kern="0" dirty="0">
                <a:solidFill>
                  <a:srgbClr val="00A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APÊNDICE 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810512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41"/>
              </a:lnSpc>
              <a:buNone/>
            </a:pPr>
            <a:r>
              <a:rPr lang="en-US" sz="40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Incerteza e calibração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14400" y="1966615"/>
            <a:ext cx="181051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Bootstrap por exame inferido · 2.000 reamostras · IC 95% · seed 42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914400" y="2661940"/>
            <a:ext cx="1034129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57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BALANCED ACCURACY COM IC 95%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100090"/>
            <a:ext cx="9401175" cy="666750"/>
          </a:xfrm>
          <a:prstGeom prst="roundRect">
            <a:avLst>
              <a:gd name="adj" fmla="val 17143"/>
            </a:avLst>
          </a:prstGeom>
          <a:solidFill>
            <a:srgbClr val="F5F8FB"/>
          </a:solidFill>
          <a:ln/>
        </p:spPr>
      </p:sp>
      <p:sp>
        <p:nvSpPr>
          <p:cNvPr id="7" name="Text 5"/>
          <p:cNvSpPr/>
          <p:nvPr/>
        </p:nvSpPr>
        <p:spPr>
          <a:xfrm>
            <a:off x="1181100" y="3271540"/>
            <a:ext cx="299509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CNN (imagem completa)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482655" y="3271540"/>
            <a:ext cx="392284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0,8080 [0,6643 ; 0,9375]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14400" y="3900190"/>
            <a:ext cx="9401175" cy="666750"/>
          </a:xfrm>
          <a:prstGeom prst="roundRect">
            <a:avLst>
              <a:gd name="adj" fmla="val 17143"/>
            </a:avLst>
          </a:prstGeom>
          <a:solidFill>
            <a:srgbClr val="F5F8FB"/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" y="4071640"/>
            <a:ext cx="141904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ROI recorte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482655" y="4071640"/>
            <a:ext cx="392284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0,8496 [0,7254 ; 0,9583]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4700290"/>
            <a:ext cx="9401175" cy="666750"/>
          </a:xfrm>
          <a:prstGeom prst="roundRect">
            <a:avLst>
              <a:gd name="adj" fmla="val 17143"/>
            </a:avLst>
          </a:prstGeom>
          <a:solidFill>
            <a:srgbClr val="F5F8FB"/>
          </a:solidFill>
          <a:ln/>
        </p:spPr>
      </p:sp>
      <p:sp>
        <p:nvSpPr>
          <p:cNvPr id="13" name="Text 11"/>
          <p:cNvSpPr/>
          <p:nvPr/>
        </p:nvSpPr>
        <p:spPr>
          <a:xfrm>
            <a:off x="1181100" y="4871740"/>
            <a:ext cx="158062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ROI máscara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82655" y="4871740"/>
            <a:ext cx="392284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0,8098 [0,6594 ; 0,9388]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14400" y="5500390"/>
            <a:ext cx="9401175" cy="666750"/>
          </a:xfrm>
          <a:prstGeom prst="roundRect">
            <a:avLst>
              <a:gd name="adj" fmla="val 17143"/>
            </a:avLst>
          </a:prstGeom>
          <a:solidFill>
            <a:srgbClr val="F5F8FB"/>
          </a:solidFill>
          <a:ln/>
        </p:spPr>
      </p:sp>
      <p:sp>
        <p:nvSpPr>
          <p:cNvPr id="16" name="Text 14"/>
          <p:cNvSpPr/>
          <p:nvPr/>
        </p:nvSpPr>
        <p:spPr>
          <a:xfrm>
            <a:off x="1181100" y="5671840"/>
            <a:ext cx="235350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Regressão logística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482655" y="5671840"/>
            <a:ext cx="392284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3A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0,7899 [0,6400 ; 0,9301]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400" y="6300490"/>
            <a:ext cx="9401175" cy="666750"/>
          </a:xfrm>
          <a:prstGeom prst="roundRect">
            <a:avLst>
              <a:gd name="adj" fmla="val 17143"/>
            </a:avLst>
          </a:prstGeom>
          <a:solidFill>
            <a:srgbClr val="F5F8FB"/>
          </a:solidFill>
          <a:ln/>
        </p:spPr>
      </p:sp>
      <p:sp>
        <p:nvSpPr>
          <p:cNvPr id="19" name="Text 17"/>
          <p:cNvSpPr/>
          <p:nvPr/>
        </p:nvSpPr>
        <p:spPr>
          <a:xfrm>
            <a:off x="1181100" y="6471940"/>
            <a:ext cx="93717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77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Dummy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482655" y="6471940"/>
            <a:ext cx="392284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0,5000 [0,5000 ; 0,5000]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658475" y="2661940"/>
            <a:ext cx="6715125" cy="2628900"/>
          </a:xfrm>
          <a:prstGeom prst="roundRect">
            <a:avLst>
              <a:gd name="adj" fmla="val 6522"/>
            </a:avLst>
          </a:prstGeom>
          <a:solidFill>
            <a:srgbClr val="F5F8FB"/>
          </a:solidFill>
          <a:ln/>
        </p:spPr>
      </p:sp>
      <p:sp>
        <p:nvSpPr>
          <p:cNvPr id="22" name="Text 20"/>
          <p:cNvSpPr/>
          <p:nvPr/>
        </p:nvSpPr>
        <p:spPr>
          <a:xfrm>
            <a:off x="10963275" y="2928640"/>
            <a:ext cx="67160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57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BRIER SCORE (MENOR É MELHOR)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63275" y="3385840"/>
            <a:ext cx="179803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ROI máscara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6177171" y="3385840"/>
            <a:ext cx="96782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0,0863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0963275" y="3823990"/>
            <a:ext cx="179803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ROI recorte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6177171" y="3823990"/>
            <a:ext cx="96782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0,0880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0963275" y="4262140"/>
            <a:ext cx="52208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CNN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6177171" y="4262140"/>
            <a:ext cx="96782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0,1152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0963275" y="4700290"/>
            <a:ext cx="310559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Regressão logística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6177171" y="4700290"/>
            <a:ext cx="96782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0,1519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10658475" y="5481340"/>
            <a:ext cx="6715125" cy="1279029"/>
          </a:xfrm>
          <a:prstGeom prst="roundRect">
            <a:avLst>
              <a:gd name="adj" fmla="val 13405"/>
            </a:avLst>
          </a:prstGeom>
          <a:solidFill>
            <a:srgbClr val="FBECE9"/>
          </a:solidFill>
          <a:ln/>
        </p:spPr>
      </p:sp>
      <p:sp>
        <p:nvSpPr>
          <p:cNvPr id="32" name="Shape 30"/>
          <p:cNvSpPr/>
          <p:nvPr/>
        </p:nvSpPr>
        <p:spPr>
          <a:xfrm>
            <a:off x="10658475" y="5481340"/>
            <a:ext cx="57150" cy="1279029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11020425" y="5748040"/>
            <a:ext cx="6229826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7A40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ECE não foi calculado. Nenhuma recalibração foi implementada.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914400" y="7310140"/>
            <a:ext cx="16459200" cy="944761"/>
          </a:xfrm>
          <a:prstGeom prst="roundRect">
            <a:avLst>
              <a:gd name="adj" fmla="val 18147"/>
            </a:avLst>
          </a:prstGeom>
          <a:solidFill>
            <a:srgbClr val="003A70"/>
          </a:solidFill>
          <a:ln/>
        </p:spPr>
      </p:sp>
      <p:sp>
        <p:nvSpPr>
          <p:cNvPr id="35" name="Text 33"/>
          <p:cNvSpPr/>
          <p:nvPr/>
        </p:nvSpPr>
        <p:spPr>
          <a:xfrm>
            <a:off x="1314450" y="7576840"/>
            <a:ext cx="1722501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Todos os modelos superam o acaso com clareza. Nenhuma diferença entre eles se distingue de ruído.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914400" y="9324975"/>
            <a:ext cx="16459200" cy="9525"/>
          </a:xfrm>
          <a:prstGeom prst="rect">
            <a:avLst/>
          </a:prstGeom>
          <a:solidFill>
            <a:srgbClr val="E8EDF3"/>
          </a:solidFill>
          <a:ln/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553575"/>
            <a:ext cx="588466" cy="24765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2435780" y="9525000"/>
            <a:ext cx="54316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A0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Apêndice técnico | material de apoio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6" kern="0" dirty="0">
                <a:solidFill>
                  <a:srgbClr val="00A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APÊNDICE 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810512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41"/>
              </a:lnSpc>
              <a:buNone/>
            </a:pPr>
            <a:r>
              <a:rPr lang="en-US" sz="4050" b="1" dirty="0">
                <a:solidFill>
                  <a:srgbClr val="003A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Reprodutibilidade e testes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14400" y="2271415"/>
            <a:ext cx="8058150" cy="3359944"/>
          </a:xfrm>
          <a:prstGeom prst="roundRect">
            <a:avLst>
              <a:gd name="adj" fmla="val 5670"/>
            </a:avLst>
          </a:prstGeom>
          <a:solidFill>
            <a:srgbClr val="F5F8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71415"/>
            <a:ext cx="8058150" cy="5715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6" name="Text 4"/>
          <p:cNvSpPr/>
          <p:nvPr/>
        </p:nvSpPr>
        <p:spPr>
          <a:xfrm>
            <a:off x="1276350" y="2671465"/>
            <a:ext cx="80676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1F8A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GARANTIDO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76350" y="3223915"/>
            <a:ext cx="806767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 testes automatizados, todos passando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76350" y="3787676"/>
            <a:ext cx="806767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Seed 42 fixa em todos os experimentos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76350" y="4351437"/>
            <a:ext cx="806767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Vazamento verificado em três camadas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76350" y="4915198"/>
            <a:ext cx="806767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Teste nunca usado em treino nem em seleção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315450" y="2271415"/>
            <a:ext cx="8058150" cy="3359944"/>
          </a:xfrm>
          <a:prstGeom prst="roundRect">
            <a:avLst>
              <a:gd name="adj" fmla="val 5670"/>
            </a:avLst>
          </a:prstGeom>
          <a:solidFill>
            <a:srgbClr val="F5F8FB"/>
          </a:solidFill>
          <a:ln/>
        </p:spPr>
      </p:sp>
      <p:sp>
        <p:nvSpPr>
          <p:cNvPr id="12" name="Shape 10"/>
          <p:cNvSpPr/>
          <p:nvPr/>
        </p:nvSpPr>
        <p:spPr>
          <a:xfrm>
            <a:off x="9315450" y="2271415"/>
            <a:ext cx="8058150" cy="57150"/>
          </a:xfrm>
          <a:prstGeom prst="rect">
            <a:avLst/>
          </a:prstGeom>
          <a:solidFill>
            <a:srgbClr val="B03A1E"/>
          </a:solidFill>
          <a:ln/>
        </p:spPr>
      </p:sp>
      <p:sp>
        <p:nvSpPr>
          <p:cNvPr id="13" name="Text 11"/>
          <p:cNvSpPr/>
          <p:nvPr/>
        </p:nvSpPr>
        <p:spPr>
          <a:xfrm>
            <a:off x="9677400" y="2671465"/>
            <a:ext cx="80676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B03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 ABERTO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77400" y="3223915"/>
            <a:ext cx="806767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Dependências sem versões fixadas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677400" y="3787676"/>
            <a:ext cx="806767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Artefatos principais não versionados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677400" y="4351437"/>
            <a:ext cx="806767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URL e licença do dataset não registradas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677400" y="4915198"/>
            <a:ext cx="806767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Reexecutar hoje não reproduz os números históricos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14400" y="9324975"/>
            <a:ext cx="16459200" cy="9525"/>
          </a:xfrm>
          <a:prstGeom prst="rect">
            <a:avLst/>
          </a:prstGeom>
          <a:solidFill>
            <a:srgbClr val="E8EDF3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553575"/>
            <a:ext cx="588466" cy="24765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435780" y="9525000"/>
            <a:ext cx="54316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A0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Apêndice técnico | material de apoio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2026-08-06T14:10:37Z</dcterms:created>
  <dcterms:modified xsi:type="dcterms:W3CDTF">2026-08-06T14:10:37Z</dcterms:modified>
</cp:coreProperties>
</file>